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67" r:id="rId3"/>
    <p:sldId id="257" r:id="rId4"/>
    <p:sldId id="260" r:id="rId5"/>
    <p:sldId id="258" r:id="rId6"/>
    <p:sldId id="259" r:id="rId7"/>
    <p:sldId id="261" r:id="rId8"/>
    <p:sldId id="262" r:id="rId9"/>
    <p:sldId id="263" r:id="rId10"/>
    <p:sldId id="264"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31"/>
    <p:restoredTop sz="94675"/>
  </p:normalViewPr>
  <p:slideViewPr>
    <p:cSldViewPr snapToGrid="0">
      <p:cViewPr varScale="1">
        <p:scale>
          <a:sx n="81" d="100"/>
          <a:sy n="81" d="100"/>
        </p:scale>
        <p:origin x="50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notesMaster" Target="notesMasters/notesMaster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tableStyles" Target="tableStyles.xml" /><Relationship Id="rId2" Type="http://schemas.openxmlformats.org/officeDocument/2006/relationships/slide" Target="slides/slide1.xml" /><Relationship Id="rId16"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viewProps" Target="viewProp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46B774-DD52-BC4B-86EC-98367CFFD672}" type="datetimeFigureOut">
              <a:rPr lang="en-US" smtClean="0"/>
              <a:t>8/29/2024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E2E032-75E6-2E4C-8F8C-B2C23CD0B661}" type="slidenum">
              <a:rPr lang="en-US" smtClean="0"/>
              <a:t>‹#›</a:t>
            </a:fld>
            <a:endParaRPr lang="en-US"/>
          </a:p>
        </p:txBody>
      </p:sp>
    </p:spTree>
    <p:extLst>
      <p:ext uri="{BB962C8B-B14F-4D97-AF65-F5344CB8AC3E}">
        <p14:creationId xmlns:p14="http://schemas.microsoft.com/office/powerpoint/2010/main" val="1520737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i="0" dirty="0"/>
              <a:t>PROBLEM STATEMENT:</a:t>
            </a:r>
          </a:p>
          <a:p>
            <a:r>
              <a:rPr lang="en-IN" dirty="0"/>
              <a:t>However, the difficulties of overloaded hospitals frequently impede the seamless administration of this critical care. Currently, manual monitoring of IV drip levels is the responsibility of nurses and hospital employees. Unfortunately, their hectic schedules might lead to mistakes and omissions. Acknowledging the significance of tackling this core problem, the suggestion involves the creation of an independent, self-regulating drip monitoring system utilizing Internet of Things (</a:t>
            </a:r>
            <a:r>
              <a:rPr lang="en-IN" dirty="0" err="1"/>
              <a:t>IoT</a:t>
            </a:r>
            <a:r>
              <a:rPr lang="en-IN" dirty="0"/>
              <a:t>) technology. </a:t>
            </a:r>
            <a:endParaRPr lang="en-US" dirty="0"/>
          </a:p>
        </p:txBody>
      </p:sp>
      <p:sp>
        <p:nvSpPr>
          <p:cNvPr id="4" name="Slide Number Placeholder 3"/>
          <p:cNvSpPr>
            <a:spLocks noGrp="1"/>
          </p:cNvSpPr>
          <p:nvPr>
            <p:ph type="sldNum" sz="quarter" idx="5"/>
          </p:nvPr>
        </p:nvSpPr>
        <p:spPr/>
        <p:txBody>
          <a:bodyPr/>
          <a:lstStyle/>
          <a:p>
            <a:fld id="{9AE2E032-75E6-2E4C-8F8C-B2C23CD0B661}" type="slidenum">
              <a:rPr lang="en-US" smtClean="0"/>
              <a:t>2</a:t>
            </a:fld>
            <a:endParaRPr lang="en-US"/>
          </a:p>
        </p:txBody>
      </p:sp>
    </p:spTree>
    <p:extLst>
      <p:ext uri="{BB962C8B-B14F-4D97-AF65-F5344CB8AC3E}">
        <p14:creationId xmlns:p14="http://schemas.microsoft.com/office/powerpoint/2010/main" val="25808502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a:p>
            <a:r>
              <a:rPr lang="en-IN" b="1" dirty="0"/>
              <a:t>BLOCK DIAGRAM:</a:t>
            </a:r>
          </a:p>
          <a:p>
            <a:endParaRPr lang="en-IN" dirty="0"/>
          </a:p>
          <a:p>
            <a:r>
              <a:rPr lang="en-IN" dirty="0"/>
              <a:t>Power Supply </a:t>
            </a:r>
          </a:p>
          <a:p>
            <a:r>
              <a:rPr lang="en-IN" dirty="0"/>
              <a:t>            |</a:t>
            </a:r>
          </a:p>
          <a:p>
            <a:r>
              <a:rPr lang="en-IN" dirty="0"/>
              <a:t>Esp32 Dev module--</a:t>
            </a:r>
            <a:r>
              <a:rPr lang="en-IN" dirty="0">
                <a:sym typeface="Wingdings" pitchFamily="2" charset="2"/>
              </a:rPr>
              <a:t></a:t>
            </a:r>
            <a:r>
              <a:rPr lang="en-IN" dirty="0" err="1"/>
              <a:t>Lcd</a:t>
            </a:r>
            <a:r>
              <a:rPr lang="en-IN" dirty="0"/>
              <a:t> Display (16×2)</a:t>
            </a:r>
          </a:p>
          <a:p>
            <a:r>
              <a:rPr lang="en-IN" dirty="0"/>
              <a:t>                                              (Output)</a:t>
            </a:r>
          </a:p>
          <a:p>
            <a:r>
              <a:rPr lang="en-IN" dirty="0"/>
              <a:t>            |</a:t>
            </a:r>
          </a:p>
          <a:p>
            <a:r>
              <a:rPr lang="en-IN" dirty="0"/>
              <a:t>HX711 Amplifier </a:t>
            </a:r>
          </a:p>
          <a:p>
            <a:r>
              <a:rPr lang="en-IN" dirty="0"/>
              <a:t>           |</a:t>
            </a:r>
          </a:p>
          <a:p>
            <a:r>
              <a:rPr lang="en-IN" dirty="0"/>
              <a:t>Load cell (5 kg)</a:t>
            </a:r>
          </a:p>
          <a:p>
            <a:r>
              <a:rPr lang="en-IN" dirty="0"/>
              <a:t>           </a:t>
            </a:r>
          </a:p>
          <a:p>
            <a:endParaRPr lang="en-IN" dirty="0"/>
          </a:p>
        </p:txBody>
      </p:sp>
      <p:sp>
        <p:nvSpPr>
          <p:cNvPr id="4" name="Slide Number Placeholder 3"/>
          <p:cNvSpPr>
            <a:spLocks noGrp="1"/>
          </p:cNvSpPr>
          <p:nvPr>
            <p:ph type="sldNum" sz="quarter" idx="5"/>
          </p:nvPr>
        </p:nvSpPr>
        <p:spPr/>
        <p:txBody>
          <a:bodyPr/>
          <a:lstStyle/>
          <a:p>
            <a:fld id="{9AE2E032-75E6-2E4C-8F8C-B2C23CD0B661}" type="slidenum">
              <a:rPr lang="en-US" smtClean="0"/>
              <a:t>5</a:t>
            </a:fld>
            <a:endParaRPr lang="en-US"/>
          </a:p>
        </p:txBody>
      </p:sp>
    </p:spTree>
    <p:extLst>
      <p:ext uri="{BB962C8B-B14F-4D97-AF65-F5344CB8AC3E}">
        <p14:creationId xmlns:p14="http://schemas.microsoft.com/office/powerpoint/2010/main" val="37823957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53565-908D-21CD-247A-3CE8C90939F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66462CEB-06F3-0FF7-7566-03DA1D6A45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266AAD1B-6F2C-5245-CC45-42CA3E27F6F6}"/>
              </a:ext>
            </a:extLst>
          </p:cNvPr>
          <p:cNvSpPr>
            <a:spLocks noGrp="1"/>
          </p:cNvSpPr>
          <p:nvPr>
            <p:ph type="dt" sz="half" idx="10"/>
          </p:nvPr>
        </p:nvSpPr>
        <p:spPr/>
        <p:txBody>
          <a:bodyPr/>
          <a:lstStyle/>
          <a:p>
            <a:fld id="{77AA9C85-F2DA-564F-8A09-6166B4F28587}" type="datetimeFigureOut">
              <a:rPr lang="en-US" smtClean="0"/>
              <a:t>8/29/2024</a:t>
            </a:fld>
            <a:endParaRPr lang="en-US"/>
          </a:p>
        </p:txBody>
      </p:sp>
      <p:sp>
        <p:nvSpPr>
          <p:cNvPr id="5" name="Footer Placeholder 4">
            <a:extLst>
              <a:ext uri="{FF2B5EF4-FFF2-40B4-BE49-F238E27FC236}">
                <a16:creationId xmlns:a16="http://schemas.microsoft.com/office/drawing/2014/main" id="{283FBA8C-C4E8-D49E-5DA4-9E6D4695FE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825D55-6910-01AE-015E-7A0C82F78D9A}"/>
              </a:ext>
            </a:extLst>
          </p:cNvPr>
          <p:cNvSpPr>
            <a:spLocks noGrp="1"/>
          </p:cNvSpPr>
          <p:nvPr>
            <p:ph type="sldNum" sz="quarter" idx="12"/>
          </p:nvPr>
        </p:nvSpPr>
        <p:spPr/>
        <p:txBody>
          <a:bodyPr/>
          <a:lstStyle/>
          <a:p>
            <a:fld id="{105603E9-8E3D-954B-8A37-6255BBE3234B}" type="slidenum">
              <a:rPr lang="en-US" smtClean="0"/>
              <a:t>‹#›</a:t>
            </a:fld>
            <a:endParaRPr lang="en-US"/>
          </a:p>
        </p:txBody>
      </p:sp>
    </p:spTree>
    <p:extLst>
      <p:ext uri="{BB962C8B-B14F-4D97-AF65-F5344CB8AC3E}">
        <p14:creationId xmlns:p14="http://schemas.microsoft.com/office/powerpoint/2010/main" val="1099875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46AFC-DD25-1B62-C5E6-F7FC6BCFDC9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4D5476A-CE9A-BF1B-CECD-41BDCC6238A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850172-9902-14A0-448F-52F7130BC36C}"/>
              </a:ext>
            </a:extLst>
          </p:cNvPr>
          <p:cNvSpPr>
            <a:spLocks noGrp="1"/>
          </p:cNvSpPr>
          <p:nvPr>
            <p:ph type="dt" sz="half" idx="10"/>
          </p:nvPr>
        </p:nvSpPr>
        <p:spPr/>
        <p:txBody>
          <a:bodyPr/>
          <a:lstStyle/>
          <a:p>
            <a:fld id="{77AA9C85-F2DA-564F-8A09-6166B4F28587}" type="datetimeFigureOut">
              <a:rPr lang="en-US" smtClean="0"/>
              <a:t>8/29/2024</a:t>
            </a:fld>
            <a:endParaRPr lang="en-US"/>
          </a:p>
        </p:txBody>
      </p:sp>
      <p:sp>
        <p:nvSpPr>
          <p:cNvPr id="5" name="Footer Placeholder 4">
            <a:extLst>
              <a:ext uri="{FF2B5EF4-FFF2-40B4-BE49-F238E27FC236}">
                <a16:creationId xmlns:a16="http://schemas.microsoft.com/office/drawing/2014/main" id="{21803A5D-D965-6AF4-408B-4300CFEBB2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8F4789-B31D-2DED-746E-4A7CBB4A6086}"/>
              </a:ext>
            </a:extLst>
          </p:cNvPr>
          <p:cNvSpPr>
            <a:spLocks noGrp="1"/>
          </p:cNvSpPr>
          <p:nvPr>
            <p:ph type="sldNum" sz="quarter" idx="12"/>
          </p:nvPr>
        </p:nvSpPr>
        <p:spPr/>
        <p:txBody>
          <a:bodyPr/>
          <a:lstStyle/>
          <a:p>
            <a:fld id="{105603E9-8E3D-954B-8A37-6255BBE3234B}" type="slidenum">
              <a:rPr lang="en-US" smtClean="0"/>
              <a:t>‹#›</a:t>
            </a:fld>
            <a:endParaRPr lang="en-US"/>
          </a:p>
        </p:txBody>
      </p:sp>
    </p:spTree>
    <p:extLst>
      <p:ext uri="{BB962C8B-B14F-4D97-AF65-F5344CB8AC3E}">
        <p14:creationId xmlns:p14="http://schemas.microsoft.com/office/powerpoint/2010/main" val="1615733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BC994-B76F-9A5A-C958-13997B11AE2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CAD4C6E-3FED-D644-66B8-72EE7A2FA67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914E0CE-02F7-ABBF-F0EE-B331F77F7D68}"/>
              </a:ext>
            </a:extLst>
          </p:cNvPr>
          <p:cNvSpPr>
            <a:spLocks noGrp="1"/>
          </p:cNvSpPr>
          <p:nvPr>
            <p:ph type="dt" sz="half" idx="10"/>
          </p:nvPr>
        </p:nvSpPr>
        <p:spPr/>
        <p:txBody>
          <a:bodyPr/>
          <a:lstStyle/>
          <a:p>
            <a:fld id="{77AA9C85-F2DA-564F-8A09-6166B4F28587}" type="datetimeFigureOut">
              <a:rPr lang="en-US" smtClean="0"/>
              <a:t>8/29/2024</a:t>
            </a:fld>
            <a:endParaRPr lang="en-US"/>
          </a:p>
        </p:txBody>
      </p:sp>
      <p:sp>
        <p:nvSpPr>
          <p:cNvPr id="5" name="Footer Placeholder 4">
            <a:extLst>
              <a:ext uri="{FF2B5EF4-FFF2-40B4-BE49-F238E27FC236}">
                <a16:creationId xmlns:a16="http://schemas.microsoft.com/office/drawing/2014/main" id="{F6262669-CB05-ECAF-FF3F-58BECFD20C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9E7E20-79CA-0A88-ADD5-19771E3B94B8}"/>
              </a:ext>
            </a:extLst>
          </p:cNvPr>
          <p:cNvSpPr>
            <a:spLocks noGrp="1"/>
          </p:cNvSpPr>
          <p:nvPr>
            <p:ph type="sldNum" sz="quarter" idx="12"/>
          </p:nvPr>
        </p:nvSpPr>
        <p:spPr/>
        <p:txBody>
          <a:bodyPr/>
          <a:lstStyle/>
          <a:p>
            <a:fld id="{105603E9-8E3D-954B-8A37-6255BBE3234B}" type="slidenum">
              <a:rPr lang="en-US" smtClean="0"/>
              <a:t>‹#›</a:t>
            </a:fld>
            <a:endParaRPr lang="en-US"/>
          </a:p>
        </p:txBody>
      </p:sp>
    </p:spTree>
    <p:extLst>
      <p:ext uri="{BB962C8B-B14F-4D97-AF65-F5344CB8AC3E}">
        <p14:creationId xmlns:p14="http://schemas.microsoft.com/office/powerpoint/2010/main" val="3542904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C6739-5C98-54A9-EC3A-01AA2B9FFF1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DCFEC83-C413-1C7B-D9D6-AAA59883643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07F5EE77-E9DD-9A6A-31FF-25D04C45048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58A29BB6-24A2-DD38-7B8A-387743409187}"/>
              </a:ext>
            </a:extLst>
          </p:cNvPr>
          <p:cNvSpPr>
            <a:spLocks noGrp="1"/>
          </p:cNvSpPr>
          <p:nvPr>
            <p:ph type="dt" sz="half" idx="10"/>
          </p:nvPr>
        </p:nvSpPr>
        <p:spPr/>
        <p:txBody>
          <a:bodyPr/>
          <a:lstStyle/>
          <a:p>
            <a:fld id="{77AA9C85-F2DA-564F-8A09-6166B4F28587}" type="datetimeFigureOut">
              <a:rPr lang="en-US" smtClean="0"/>
              <a:t>8/29/2024</a:t>
            </a:fld>
            <a:endParaRPr lang="en-US"/>
          </a:p>
        </p:txBody>
      </p:sp>
      <p:sp>
        <p:nvSpPr>
          <p:cNvPr id="6" name="Footer Placeholder 5">
            <a:extLst>
              <a:ext uri="{FF2B5EF4-FFF2-40B4-BE49-F238E27FC236}">
                <a16:creationId xmlns:a16="http://schemas.microsoft.com/office/drawing/2014/main" id="{6745D0D1-1CA7-1D7E-4EED-C5D9990381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F3E3A4-3C49-25D8-3CE5-D62E1229B3D3}"/>
              </a:ext>
            </a:extLst>
          </p:cNvPr>
          <p:cNvSpPr>
            <a:spLocks noGrp="1"/>
          </p:cNvSpPr>
          <p:nvPr>
            <p:ph type="sldNum" sz="quarter" idx="12"/>
          </p:nvPr>
        </p:nvSpPr>
        <p:spPr/>
        <p:txBody>
          <a:bodyPr/>
          <a:lstStyle/>
          <a:p>
            <a:fld id="{105603E9-8E3D-954B-8A37-6255BBE3234B}" type="slidenum">
              <a:rPr lang="en-US" smtClean="0"/>
              <a:t>‹#›</a:t>
            </a:fld>
            <a:endParaRPr lang="en-US"/>
          </a:p>
        </p:txBody>
      </p:sp>
    </p:spTree>
    <p:extLst>
      <p:ext uri="{BB962C8B-B14F-4D97-AF65-F5344CB8AC3E}">
        <p14:creationId xmlns:p14="http://schemas.microsoft.com/office/powerpoint/2010/main" val="286390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C89FB-C4D2-2C0B-DC2B-8DF8FE3F4D01}"/>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9BE1B64-D2EF-8EB7-0B9B-66FE1E14E7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E87C772-F5FB-6718-EFD6-759F93433438}"/>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B78302FA-9852-3091-8CAC-2D48AB77FD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0C75883-DF6B-43D4-DAFC-8DECA8F0C05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79844312-18D4-191C-5CB8-7CD3D45FD636}"/>
              </a:ext>
            </a:extLst>
          </p:cNvPr>
          <p:cNvSpPr>
            <a:spLocks noGrp="1"/>
          </p:cNvSpPr>
          <p:nvPr>
            <p:ph type="dt" sz="half" idx="10"/>
          </p:nvPr>
        </p:nvSpPr>
        <p:spPr/>
        <p:txBody>
          <a:bodyPr/>
          <a:lstStyle/>
          <a:p>
            <a:fld id="{77AA9C85-F2DA-564F-8A09-6166B4F28587}" type="datetimeFigureOut">
              <a:rPr lang="en-US" smtClean="0"/>
              <a:t>8/29/2024</a:t>
            </a:fld>
            <a:endParaRPr lang="en-US"/>
          </a:p>
        </p:txBody>
      </p:sp>
      <p:sp>
        <p:nvSpPr>
          <p:cNvPr id="8" name="Footer Placeholder 7">
            <a:extLst>
              <a:ext uri="{FF2B5EF4-FFF2-40B4-BE49-F238E27FC236}">
                <a16:creationId xmlns:a16="http://schemas.microsoft.com/office/drawing/2014/main" id="{98BB2118-B701-4BBD-84E1-3A2B8CF4867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74ECA2E-A28C-F483-80CB-541C2A192AD7}"/>
              </a:ext>
            </a:extLst>
          </p:cNvPr>
          <p:cNvSpPr>
            <a:spLocks noGrp="1"/>
          </p:cNvSpPr>
          <p:nvPr>
            <p:ph type="sldNum" sz="quarter" idx="12"/>
          </p:nvPr>
        </p:nvSpPr>
        <p:spPr/>
        <p:txBody>
          <a:bodyPr/>
          <a:lstStyle/>
          <a:p>
            <a:fld id="{105603E9-8E3D-954B-8A37-6255BBE3234B}" type="slidenum">
              <a:rPr lang="en-US" smtClean="0"/>
              <a:t>‹#›</a:t>
            </a:fld>
            <a:endParaRPr lang="en-US"/>
          </a:p>
        </p:txBody>
      </p:sp>
    </p:spTree>
    <p:extLst>
      <p:ext uri="{BB962C8B-B14F-4D97-AF65-F5344CB8AC3E}">
        <p14:creationId xmlns:p14="http://schemas.microsoft.com/office/powerpoint/2010/main" val="2874968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EF7E5-F223-28D5-941F-BC9449C41AB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DA7DF190-7454-6F59-317E-F2E1131A363F}"/>
              </a:ext>
            </a:extLst>
          </p:cNvPr>
          <p:cNvSpPr>
            <a:spLocks noGrp="1"/>
          </p:cNvSpPr>
          <p:nvPr>
            <p:ph type="dt" sz="half" idx="10"/>
          </p:nvPr>
        </p:nvSpPr>
        <p:spPr/>
        <p:txBody>
          <a:bodyPr/>
          <a:lstStyle/>
          <a:p>
            <a:fld id="{77AA9C85-F2DA-564F-8A09-6166B4F28587}" type="datetimeFigureOut">
              <a:rPr lang="en-US" smtClean="0"/>
              <a:t>8/29/2024</a:t>
            </a:fld>
            <a:endParaRPr lang="en-US"/>
          </a:p>
        </p:txBody>
      </p:sp>
      <p:sp>
        <p:nvSpPr>
          <p:cNvPr id="4" name="Footer Placeholder 3">
            <a:extLst>
              <a:ext uri="{FF2B5EF4-FFF2-40B4-BE49-F238E27FC236}">
                <a16:creationId xmlns:a16="http://schemas.microsoft.com/office/drawing/2014/main" id="{904E8E6B-7C74-28F9-5DAA-2E074C5D449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8ECDA61-BFD5-3880-88BF-153C1BD306D9}"/>
              </a:ext>
            </a:extLst>
          </p:cNvPr>
          <p:cNvSpPr>
            <a:spLocks noGrp="1"/>
          </p:cNvSpPr>
          <p:nvPr>
            <p:ph type="sldNum" sz="quarter" idx="12"/>
          </p:nvPr>
        </p:nvSpPr>
        <p:spPr/>
        <p:txBody>
          <a:bodyPr/>
          <a:lstStyle/>
          <a:p>
            <a:fld id="{105603E9-8E3D-954B-8A37-6255BBE3234B}" type="slidenum">
              <a:rPr lang="en-US" smtClean="0"/>
              <a:t>‹#›</a:t>
            </a:fld>
            <a:endParaRPr lang="en-US"/>
          </a:p>
        </p:txBody>
      </p:sp>
    </p:spTree>
    <p:extLst>
      <p:ext uri="{BB962C8B-B14F-4D97-AF65-F5344CB8AC3E}">
        <p14:creationId xmlns:p14="http://schemas.microsoft.com/office/powerpoint/2010/main" val="652262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2E6E01-E780-AAA6-D993-5011ABB76B95}"/>
              </a:ext>
            </a:extLst>
          </p:cNvPr>
          <p:cNvSpPr>
            <a:spLocks noGrp="1"/>
          </p:cNvSpPr>
          <p:nvPr>
            <p:ph type="dt" sz="half" idx="10"/>
          </p:nvPr>
        </p:nvSpPr>
        <p:spPr/>
        <p:txBody>
          <a:bodyPr/>
          <a:lstStyle/>
          <a:p>
            <a:fld id="{77AA9C85-F2DA-564F-8A09-6166B4F28587}" type="datetimeFigureOut">
              <a:rPr lang="en-US" smtClean="0"/>
              <a:t>8/29/2024</a:t>
            </a:fld>
            <a:endParaRPr lang="en-US"/>
          </a:p>
        </p:txBody>
      </p:sp>
      <p:sp>
        <p:nvSpPr>
          <p:cNvPr id="3" name="Footer Placeholder 2">
            <a:extLst>
              <a:ext uri="{FF2B5EF4-FFF2-40B4-BE49-F238E27FC236}">
                <a16:creationId xmlns:a16="http://schemas.microsoft.com/office/drawing/2014/main" id="{C4C51CCF-68D0-335F-125F-BCA88F8EB7A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E728902-0AF3-45B9-07FC-45FB4F8F5509}"/>
              </a:ext>
            </a:extLst>
          </p:cNvPr>
          <p:cNvSpPr>
            <a:spLocks noGrp="1"/>
          </p:cNvSpPr>
          <p:nvPr>
            <p:ph type="sldNum" sz="quarter" idx="12"/>
          </p:nvPr>
        </p:nvSpPr>
        <p:spPr/>
        <p:txBody>
          <a:bodyPr/>
          <a:lstStyle/>
          <a:p>
            <a:fld id="{105603E9-8E3D-954B-8A37-6255BBE3234B}" type="slidenum">
              <a:rPr lang="en-US" smtClean="0"/>
              <a:t>‹#›</a:t>
            </a:fld>
            <a:endParaRPr lang="en-US"/>
          </a:p>
        </p:txBody>
      </p:sp>
    </p:spTree>
    <p:extLst>
      <p:ext uri="{BB962C8B-B14F-4D97-AF65-F5344CB8AC3E}">
        <p14:creationId xmlns:p14="http://schemas.microsoft.com/office/powerpoint/2010/main" val="900038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4D490-5B76-39C4-19CD-B507555DCEE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7653EE5-75A1-2ED8-0CB9-429767B414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AC4AA814-BA0D-074B-10AD-2789AC715E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9E040C0-BA5E-B639-666E-CD4204C7B111}"/>
              </a:ext>
            </a:extLst>
          </p:cNvPr>
          <p:cNvSpPr>
            <a:spLocks noGrp="1"/>
          </p:cNvSpPr>
          <p:nvPr>
            <p:ph type="dt" sz="half" idx="10"/>
          </p:nvPr>
        </p:nvSpPr>
        <p:spPr/>
        <p:txBody>
          <a:bodyPr/>
          <a:lstStyle/>
          <a:p>
            <a:fld id="{77AA9C85-F2DA-564F-8A09-6166B4F28587}" type="datetimeFigureOut">
              <a:rPr lang="en-US" smtClean="0"/>
              <a:t>8/29/2024</a:t>
            </a:fld>
            <a:endParaRPr lang="en-US"/>
          </a:p>
        </p:txBody>
      </p:sp>
      <p:sp>
        <p:nvSpPr>
          <p:cNvPr id="6" name="Footer Placeholder 5">
            <a:extLst>
              <a:ext uri="{FF2B5EF4-FFF2-40B4-BE49-F238E27FC236}">
                <a16:creationId xmlns:a16="http://schemas.microsoft.com/office/drawing/2014/main" id="{EFDAF329-912C-C270-9524-4E262751F2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160BEF-65A3-AFD3-713E-A3C8436CCC05}"/>
              </a:ext>
            </a:extLst>
          </p:cNvPr>
          <p:cNvSpPr>
            <a:spLocks noGrp="1"/>
          </p:cNvSpPr>
          <p:nvPr>
            <p:ph type="sldNum" sz="quarter" idx="12"/>
          </p:nvPr>
        </p:nvSpPr>
        <p:spPr/>
        <p:txBody>
          <a:bodyPr/>
          <a:lstStyle/>
          <a:p>
            <a:fld id="{105603E9-8E3D-954B-8A37-6255BBE3234B}" type="slidenum">
              <a:rPr lang="en-US" smtClean="0"/>
              <a:t>‹#›</a:t>
            </a:fld>
            <a:endParaRPr lang="en-US"/>
          </a:p>
        </p:txBody>
      </p:sp>
    </p:spTree>
    <p:extLst>
      <p:ext uri="{BB962C8B-B14F-4D97-AF65-F5344CB8AC3E}">
        <p14:creationId xmlns:p14="http://schemas.microsoft.com/office/powerpoint/2010/main" val="6833029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6E847-A4E3-120A-D254-7E4A424B5F3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D19B439-7C7C-D82D-023A-81CF2ABF610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8110813-0F40-998B-60BE-973E3ABA27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B10D90B-F5B1-DCB0-4E03-4B5AA99B5EE5}"/>
              </a:ext>
            </a:extLst>
          </p:cNvPr>
          <p:cNvSpPr>
            <a:spLocks noGrp="1"/>
          </p:cNvSpPr>
          <p:nvPr>
            <p:ph type="dt" sz="half" idx="10"/>
          </p:nvPr>
        </p:nvSpPr>
        <p:spPr/>
        <p:txBody>
          <a:bodyPr/>
          <a:lstStyle/>
          <a:p>
            <a:fld id="{77AA9C85-F2DA-564F-8A09-6166B4F28587}" type="datetimeFigureOut">
              <a:rPr lang="en-US" smtClean="0"/>
              <a:t>8/29/2024</a:t>
            </a:fld>
            <a:endParaRPr lang="en-US"/>
          </a:p>
        </p:txBody>
      </p:sp>
      <p:sp>
        <p:nvSpPr>
          <p:cNvPr id="6" name="Footer Placeholder 5">
            <a:extLst>
              <a:ext uri="{FF2B5EF4-FFF2-40B4-BE49-F238E27FC236}">
                <a16:creationId xmlns:a16="http://schemas.microsoft.com/office/drawing/2014/main" id="{A7649F8E-13AA-18E6-AFC9-1EFF0CE1896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C46C40-E88E-D672-EF17-3BEA4B80F76B}"/>
              </a:ext>
            </a:extLst>
          </p:cNvPr>
          <p:cNvSpPr>
            <a:spLocks noGrp="1"/>
          </p:cNvSpPr>
          <p:nvPr>
            <p:ph type="sldNum" sz="quarter" idx="12"/>
          </p:nvPr>
        </p:nvSpPr>
        <p:spPr/>
        <p:txBody>
          <a:bodyPr/>
          <a:lstStyle/>
          <a:p>
            <a:fld id="{105603E9-8E3D-954B-8A37-6255BBE3234B}" type="slidenum">
              <a:rPr lang="en-US" smtClean="0"/>
              <a:t>‹#›</a:t>
            </a:fld>
            <a:endParaRPr lang="en-US"/>
          </a:p>
        </p:txBody>
      </p:sp>
    </p:spTree>
    <p:extLst>
      <p:ext uri="{BB962C8B-B14F-4D97-AF65-F5344CB8AC3E}">
        <p14:creationId xmlns:p14="http://schemas.microsoft.com/office/powerpoint/2010/main" val="15935013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FFD70-4F5C-0284-9445-2C045E75A1D5}"/>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CEF3279-7686-FAC0-AF04-28A0A6C0B81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5BF040E-A8A1-6088-AE41-210AB25A725A}"/>
              </a:ext>
            </a:extLst>
          </p:cNvPr>
          <p:cNvSpPr>
            <a:spLocks noGrp="1"/>
          </p:cNvSpPr>
          <p:nvPr>
            <p:ph type="dt" sz="half" idx="10"/>
          </p:nvPr>
        </p:nvSpPr>
        <p:spPr/>
        <p:txBody>
          <a:bodyPr/>
          <a:lstStyle/>
          <a:p>
            <a:fld id="{77AA9C85-F2DA-564F-8A09-6166B4F28587}" type="datetimeFigureOut">
              <a:rPr lang="en-US" smtClean="0"/>
              <a:t>8/29/2024</a:t>
            </a:fld>
            <a:endParaRPr lang="en-US"/>
          </a:p>
        </p:txBody>
      </p:sp>
      <p:sp>
        <p:nvSpPr>
          <p:cNvPr id="5" name="Footer Placeholder 4">
            <a:extLst>
              <a:ext uri="{FF2B5EF4-FFF2-40B4-BE49-F238E27FC236}">
                <a16:creationId xmlns:a16="http://schemas.microsoft.com/office/drawing/2014/main" id="{F9440803-7C85-5999-927B-577EC80067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02C7B6-BFB6-DA38-B754-D09C75D3766E}"/>
              </a:ext>
            </a:extLst>
          </p:cNvPr>
          <p:cNvSpPr>
            <a:spLocks noGrp="1"/>
          </p:cNvSpPr>
          <p:nvPr>
            <p:ph type="sldNum" sz="quarter" idx="12"/>
          </p:nvPr>
        </p:nvSpPr>
        <p:spPr/>
        <p:txBody>
          <a:bodyPr/>
          <a:lstStyle/>
          <a:p>
            <a:fld id="{105603E9-8E3D-954B-8A37-6255BBE3234B}" type="slidenum">
              <a:rPr lang="en-US" smtClean="0"/>
              <a:t>‹#›</a:t>
            </a:fld>
            <a:endParaRPr lang="en-US"/>
          </a:p>
        </p:txBody>
      </p:sp>
    </p:spTree>
    <p:extLst>
      <p:ext uri="{BB962C8B-B14F-4D97-AF65-F5344CB8AC3E}">
        <p14:creationId xmlns:p14="http://schemas.microsoft.com/office/powerpoint/2010/main" val="2199037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1DD065-5748-4176-D5EA-EE28653CC6EE}"/>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21BEE63-DAB9-244B-1CDE-ABBBC67EF62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DCB9A83-5DB0-3DCC-48D1-6279A5685407}"/>
              </a:ext>
            </a:extLst>
          </p:cNvPr>
          <p:cNvSpPr>
            <a:spLocks noGrp="1"/>
          </p:cNvSpPr>
          <p:nvPr>
            <p:ph type="dt" sz="half" idx="10"/>
          </p:nvPr>
        </p:nvSpPr>
        <p:spPr/>
        <p:txBody>
          <a:bodyPr/>
          <a:lstStyle/>
          <a:p>
            <a:fld id="{77AA9C85-F2DA-564F-8A09-6166B4F28587}" type="datetimeFigureOut">
              <a:rPr lang="en-US" smtClean="0"/>
              <a:t>8/29/2024</a:t>
            </a:fld>
            <a:endParaRPr lang="en-US"/>
          </a:p>
        </p:txBody>
      </p:sp>
      <p:sp>
        <p:nvSpPr>
          <p:cNvPr id="5" name="Footer Placeholder 4">
            <a:extLst>
              <a:ext uri="{FF2B5EF4-FFF2-40B4-BE49-F238E27FC236}">
                <a16:creationId xmlns:a16="http://schemas.microsoft.com/office/drawing/2014/main" id="{4D95EC12-4561-FE31-9920-1B9EA88929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EA8C3C-D26D-41D9-9459-73A96CDDBAD0}"/>
              </a:ext>
            </a:extLst>
          </p:cNvPr>
          <p:cNvSpPr>
            <a:spLocks noGrp="1"/>
          </p:cNvSpPr>
          <p:nvPr>
            <p:ph type="sldNum" sz="quarter" idx="12"/>
          </p:nvPr>
        </p:nvSpPr>
        <p:spPr/>
        <p:txBody>
          <a:bodyPr/>
          <a:lstStyle/>
          <a:p>
            <a:fld id="{105603E9-8E3D-954B-8A37-6255BBE3234B}" type="slidenum">
              <a:rPr lang="en-US" smtClean="0"/>
              <a:t>‹#›</a:t>
            </a:fld>
            <a:endParaRPr lang="en-US"/>
          </a:p>
        </p:txBody>
      </p:sp>
    </p:spTree>
    <p:extLst>
      <p:ext uri="{BB962C8B-B14F-4D97-AF65-F5344CB8AC3E}">
        <p14:creationId xmlns:p14="http://schemas.microsoft.com/office/powerpoint/2010/main" val="16860288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01F4FA2-C549-470E-B37B-463606EF93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6199F52-6715-F7C5-3139-32FE534B27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C315920-5E1E-B129-0901-3D466C306E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7AA9C85-F2DA-564F-8A09-6166B4F28587}" type="datetimeFigureOut">
              <a:rPr lang="en-US" smtClean="0"/>
              <a:t>8/29/2024</a:t>
            </a:fld>
            <a:endParaRPr lang="en-US"/>
          </a:p>
        </p:txBody>
      </p:sp>
      <p:sp>
        <p:nvSpPr>
          <p:cNvPr id="5" name="Footer Placeholder 4">
            <a:extLst>
              <a:ext uri="{FF2B5EF4-FFF2-40B4-BE49-F238E27FC236}">
                <a16:creationId xmlns:a16="http://schemas.microsoft.com/office/drawing/2014/main" id="{5042C3D8-5FB3-ABEB-02CC-44490122A3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1B1E5E2-CE28-5CC7-2D31-FC7D6726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05603E9-8E3D-954B-8A37-6255BBE3234B}" type="slidenum">
              <a:rPr lang="en-US" smtClean="0"/>
              <a:t>‹#›</a:t>
            </a:fld>
            <a:endParaRPr lang="en-US"/>
          </a:p>
        </p:txBody>
      </p:sp>
    </p:spTree>
    <p:extLst>
      <p:ext uri="{BB962C8B-B14F-4D97-AF65-F5344CB8AC3E}">
        <p14:creationId xmlns:p14="http://schemas.microsoft.com/office/powerpoint/2010/main" val="3564938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3" Type="http://schemas.openxmlformats.org/officeDocument/2006/relationships/image" Target="../media/image5.jpeg" /><Relationship Id="rId7" Type="http://schemas.openxmlformats.org/officeDocument/2006/relationships/image" Target="../media/image9.jpeg" /><Relationship Id="rId2" Type="http://schemas.openxmlformats.org/officeDocument/2006/relationships/image" Target="../media/image4.jpeg" /><Relationship Id="rId1" Type="http://schemas.openxmlformats.org/officeDocument/2006/relationships/slideLayout" Target="../slideLayouts/slideLayout2.xml" /><Relationship Id="rId6" Type="http://schemas.openxmlformats.org/officeDocument/2006/relationships/image" Target="../media/image8.jpeg" /><Relationship Id="rId5" Type="http://schemas.openxmlformats.org/officeDocument/2006/relationships/image" Target="../media/image7.jpeg" /><Relationship Id="rId4" Type="http://schemas.openxmlformats.org/officeDocument/2006/relationships/image" Target="../media/image6.jpeg"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10.jpe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image" Target="../media/image11.jpe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image" Target="../media/image12.jpeg"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3ADEAE5-B080-4DEC-819A-00E41A93F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9FB580A-BA0E-4D5E-90F4-C42767A783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3FC02B3F-E893-1D7E-4540-925151E2448B}"/>
              </a:ext>
            </a:extLst>
          </p:cNvPr>
          <p:cNvSpPr>
            <a:spLocks noGrp="1"/>
          </p:cNvSpPr>
          <p:nvPr>
            <p:ph type="ctrTitle"/>
          </p:nvPr>
        </p:nvSpPr>
        <p:spPr>
          <a:xfrm>
            <a:off x="2927270" y="2528355"/>
            <a:ext cx="6658747" cy="834503"/>
          </a:xfrm>
        </p:spPr>
        <p:txBody>
          <a:bodyPr anchor="b">
            <a:normAutofit fontScale="90000"/>
          </a:bodyPr>
          <a:lstStyle/>
          <a:p>
            <a:pPr algn="l"/>
            <a:r>
              <a:rPr lang="en-US" sz="4800" b="1" dirty="0">
                <a:ln w="0"/>
                <a:solidFill>
                  <a:schemeClr val="bg1"/>
                </a:solidFill>
                <a:effectLst>
                  <a:outerShdw blurRad="38100" dist="19050" dir="2700000" algn="tl" rotWithShape="0">
                    <a:schemeClr val="dk1">
                      <a:alpha val="40000"/>
                    </a:schemeClr>
                  </a:outerShdw>
                </a:effectLst>
                <a:latin typeface="Segoe UI Light" panose="020B0502040204020203" pitchFamily="34" charset="0"/>
                <a:cs typeface="Segoe UI Light" panose="020B0502040204020203" pitchFamily="34" charset="0"/>
              </a:rPr>
              <a:t>TITLE: SMART SALINE BAG </a:t>
            </a:r>
            <a:endParaRPr lang="en-US" sz="3600" dirty="0">
              <a:solidFill>
                <a:srgbClr val="FFFFFF"/>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CF957327-B760-D7F3-F143-D3E7951EF1B9}"/>
              </a:ext>
            </a:extLst>
          </p:cNvPr>
          <p:cNvSpPr>
            <a:spLocks noGrp="1"/>
          </p:cNvSpPr>
          <p:nvPr>
            <p:ph type="subTitle" idx="1"/>
          </p:nvPr>
        </p:nvSpPr>
        <p:spPr>
          <a:xfrm>
            <a:off x="7738137" y="4639746"/>
            <a:ext cx="4252734" cy="1921309"/>
          </a:xfrm>
        </p:spPr>
        <p:txBody>
          <a:bodyPr anchor="ctr">
            <a:normAutofit/>
          </a:bodyPr>
          <a:lstStyle/>
          <a:p>
            <a:pPr algn="l"/>
            <a:r>
              <a:rPr lang="en-US" b="1" dirty="0">
                <a:ln w="0"/>
                <a:solidFill>
                  <a:schemeClr val="bg1"/>
                </a:solidFill>
                <a:effectLst>
                  <a:outerShdw blurRad="38100" dist="19050" dir="2700000" algn="tl" rotWithShape="0">
                    <a:schemeClr val="dk1">
                      <a:alpha val="40000"/>
                    </a:schemeClr>
                  </a:outerShdw>
                </a:effectLst>
                <a:latin typeface="Segoe UI Light" panose="020B0502040204020203" pitchFamily="34" charset="0"/>
                <a:ea typeface="+mj-ea"/>
                <a:cs typeface="Segoe UI Light" panose="020B0502040204020203" pitchFamily="34" charset="0"/>
              </a:rPr>
              <a:t>Team Name : </a:t>
            </a:r>
            <a:r>
              <a:rPr lang="en-US" b="1" dirty="0" err="1">
                <a:ln w="0"/>
                <a:solidFill>
                  <a:schemeClr val="bg1"/>
                </a:solidFill>
                <a:effectLst>
                  <a:outerShdw blurRad="38100" dist="19050" dir="2700000" algn="tl" rotWithShape="0">
                    <a:schemeClr val="dk1">
                      <a:alpha val="40000"/>
                    </a:schemeClr>
                  </a:outerShdw>
                </a:effectLst>
                <a:latin typeface="Segoe UI Light" panose="020B0502040204020203" pitchFamily="34" charset="0"/>
                <a:ea typeface="+mj-ea"/>
                <a:cs typeface="Segoe UI Light" panose="020B0502040204020203" pitchFamily="34" charset="0"/>
              </a:rPr>
              <a:t>ConnecTech</a:t>
            </a:r>
            <a:r>
              <a:rPr lang="en-US" b="1" dirty="0">
                <a:ln w="0"/>
                <a:solidFill>
                  <a:schemeClr val="bg1"/>
                </a:solidFill>
                <a:effectLst>
                  <a:outerShdw blurRad="38100" dist="19050" dir="2700000" algn="tl" rotWithShape="0">
                    <a:schemeClr val="dk1">
                      <a:alpha val="40000"/>
                    </a:schemeClr>
                  </a:outerShdw>
                </a:effectLst>
                <a:latin typeface="Segoe UI Light" panose="020B0502040204020203" pitchFamily="34" charset="0"/>
                <a:ea typeface="+mj-ea"/>
                <a:cs typeface="Segoe UI Light" panose="020B0502040204020203" pitchFamily="34" charset="0"/>
              </a:rPr>
              <a:t> Crew</a:t>
            </a:r>
          </a:p>
          <a:p>
            <a:pPr algn="l"/>
            <a:r>
              <a:rPr lang="en-US" sz="2000" b="1" dirty="0">
                <a:ln w="0"/>
                <a:solidFill>
                  <a:schemeClr val="bg1"/>
                </a:solidFill>
                <a:effectLst>
                  <a:outerShdw blurRad="38100" dist="19050" dir="2700000" algn="tl" rotWithShape="0">
                    <a:schemeClr val="dk1">
                      <a:alpha val="40000"/>
                    </a:schemeClr>
                  </a:outerShdw>
                </a:effectLst>
                <a:latin typeface="Segoe UI Light" panose="020B0502040204020203" pitchFamily="34" charset="0"/>
                <a:ea typeface="+mj-ea"/>
                <a:cs typeface="Segoe UI Light" panose="020B0502040204020203" pitchFamily="34" charset="0"/>
              </a:rPr>
              <a:t>TEAM MEMBERS: </a:t>
            </a:r>
            <a:r>
              <a:rPr lang="en-US" sz="2000" b="1" dirty="0" err="1">
                <a:ln w="0"/>
                <a:solidFill>
                  <a:schemeClr val="bg1"/>
                </a:solidFill>
                <a:effectLst>
                  <a:outerShdw blurRad="38100" dist="19050" dir="2700000" algn="tl" rotWithShape="0">
                    <a:schemeClr val="dk1">
                      <a:alpha val="40000"/>
                    </a:schemeClr>
                  </a:outerShdw>
                </a:effectLst>
                <a:latin typeface="Segoe UI Light" panose="020B0502040204020203" pitchFamily="34" charset="0"/>
                <a:ea typeface="+mj-ea"/>
                <a:cs typeface="Segoe UI Light" panose="020B0502040204020203" pitchFamily="34" charset="0"/>
              </a:rPr>
              <a:t>Dharshinisri.G</a:t>
            </a:r>
            <a:r>
              <a:rPr lang="en-US" sz="2000" b="1" dirty="0">
                <a:ln w="0"/>
                <a:solidFill>
                  <a:schemeClr val="bg1"/>
                </a:solidFill>
                <a:effectLst>
                  <a:outerShdw blurRad="38100" dist="19050" dir="2700000" algn="tl" rotWithShape="0">
                    <a:schemeClr val="dk1">
                      <a:alpha val="40000"/>
                    </a:schemeClr>
                  </a:outerShdw>
                </a:effectLst>
                <a:latin typeface="Segoe UI Light" panose="020B0502040204020203" pitchFamily="34" charset="0"/>
                <a:ea typeface="+mj-ea"/>
                <a:cs typeface="Segoe UI Light" panose="020B0502040204020203" pitchFamily="34" charset="0"/>
              </a:rPr>
              <a:t> (EEE)</a:t>
            </a:r>
          </a:p>
          <a:p>
            <a:pPr algn="l"/>
            <a:r>
              <a:rPr lang="en-US" sz="2000" b="1" dirty="0">
                <a:ln w="0"/>
                <a:solidFill>
                  <a:schemeClr val="bg1"/>
                </a:solidFill>
                <a:effectLst>
                  <a:outerShdw blurRad="38100" dist="19050" dir="2700000" algn="tl" rotWithShape="0">
                    <a:schemeClr val="dk1">
                      <a:alpha val="40000"/>
                    </a:schemeClr>
                  </a:outerShdw>
                </a:effectLst>
                <a:latin typeface="Segoe UI Light" panose="020B0502040204020203" pitchFamily="34" charset="0"/>
                <a:ea typeface="+mj-ea"/>
                <a:cs typeface="Segoe UI Light" panose="020B0502040204020203" pitchFamily="34" charset="0"/>
              </a:rPr>
              <a:t>                           </a:t>
            </a:r>
            <a:r>
              <a:rPr lang="en-US" sz="2000" b="1" dirty="0" err="1">
                <a:ln w="0"/>
                <a:solidFill>
                  <a:schemeClr val="bg1"/>
                </a:solidFill>
                <a:effectLst>
                  <a:outerShdw blurRad="38100" dist="19050" dir="2700000" algn="tl" rotWithShape="0">
                    <a:schemeClr val="dk1">
                      <a:alpha val="40000"/>
                    </a:schemeClr>
                  </a:outerShdw>
                </a:effectLst>
                <a:latin typeface="Segoe UI Light" panose="020B0502040204020203" pitchFamily="34" charset="0"/>
                <a:ea typeface="+mj-ea"/>
                <a:cs typeface="Segoe UI Light" panose="020B0502040204020203" pitchFamily="34" charset="0"/>
              </a:rPr>
              <a:t>Ashwini.D</a:t>
            </a:r>
            <a:r>
              <a:rPr lang="en-US" sz="2000" b="1" dirty="0">
                <a:ln w="0"/>
                <a:solidFill>
                  <a:schemeClr val="bg1"/>
                </a:solidFill>
                <a:effectLst>
                  <a:outerShdw blurRad="38100" dist="19050" dir="2700000" algn="tl" rotWithShape="0">
                    <a:schemeClr val="dk1">
                      <a:alpha val="40000"/>
                    </a:schemeClr>
                  </a:outerShdw>
                </a:effectLst>
                <a:latin typeface="Segoe UI Light" panose="020B0502040204020203" pitchFamily="34" charset="0"/>
                <a:ea typeface="+mj-ea"/>
                <a:cs typeface="Segoe UI Light" panose="020B0502040204020203" pitchFamily="34" charset="0"/>
              </a:rPr>
              <a:t>(EEE)</a:t>
            </a:r>
          </a:p>
          <a:p>
            <a:pPr algn="l"/>
            <a:r>
              <a:rPr lang="en-US" sz="2000" b="1" dirty="0">
                <a:ln w="0"/>
                <a:solidFill>
                  <a:schemeClr val="bg1"/>
                </a:solidFill>
                <a:effectLst>
                  <a:outerShdw blurRad="38100" dist="19050" dir="2700000" algn="tl" rotWithShape="0">
                    <a:schemeClr val="dk1">
                      <a:alpha val="40000"/>
                    </a:schemeClr>
                  </a:outerShdw>
                </a:effectLst>
                <a:latin typeface="Segoe UI Light" panose="020B0502040204020203" pitchFamily="34" charset="0"/>
                <a:ea typeface="+mj-ea"/>
                <a:cs typeface="Segoe UI Light" panose="020B0502040204020203" pitchFamily="34" charset="0"/>
              </a:rPr>
              <a:t>                           </a:t>
            </a:r>
            <a:r>
              <a:rPr lang="en-US" sz="2000" b="1" dirty="0" err="1">
                <a:ln w="0"/>
                <a:solidFill>
                  <a:schemeClr val="bg1"/>
                </a:solidFill>
                <a:effectLst>
                  <a:outerShdw blurRad="38100" dist="19050" dir="2700000" algn="tl" rotWithShape="0">
                    <a:schemeClr val="dk1">
                      <a:alpha val="40000"/>
                    </a:schemeClr>
                  </a:outerShdw>
                </a:effectLst>
                <a:latin typeface="Segoe UI Light" panose="020B0502040204020203" pitchFamily="34" charset="0"/>
                <a:ea typeface="+mj-ea"/>
                <a:cs typeface="Segoe UI Light" panose="020B0502040204020203" pitchFamily="34" charset="0"/>
              </a:rPr>
              <a:t>Anbarasi.P</a:t>
            </a:r>
            <a:r>
              <a:rPr lang="en-US" sz="2000" b="1" dirty="0">
                <a:ln w="0"/>
                <a:solidFill>
                  <a:schemeClr val="bg1"/>
                </a:solidFill>
                <a:effectLst>
                  <a:outerShdw blurRad="38100" dist="19050" dir="2700000" algn="tl" rotWithShape="0">
                    <a:schemeClr val="dk1">
                      <a:alpha val="40000"/>
                    </a:schemeClr>
                  </a:outerShdw>
                </a:effectLst>
                <a:latin typeface="Segoe UI Light" panose="020B0502040204020203" pitchFamily="34" charset="0"/>
                <a:ea typeface="+mj-ea"/>
                <a:cs typeface="Segoe UI Light" panose="020B0502040204020203" pitchFamily="34" charset="0"/>
              </a:rPr>
              <a:t>(EEE)</a:t>
            </a:r>
          </a:p>
        </p:txBody>
      </p:sp>
      <p:sp>
        <p:nvSpPr>
          <p:cNvPr id="6" name="Title 1">
            <a:extLst>
              <a:ext uri="{FF2B5EF4-FFF2-40B4-BE49-F238E27FC236}">
                <a16:creationId xmlns:a16="http://schemas.microsoft.com/office/drawing/2014/main" id="{9131C6FF-D148-1FE3-FA02-067AA65E19DC}"/>
              </a:ext>
            </a:extLst>
          </p:cNvPr>
          <p:cNvSpPr txBox="1">
            <a:spLocks/>
          </p:cNvSpPr>
          <p:nvPr/>
        </p:nvSpPr>
        <p:spPr>
          <a:xfrm>
            <a:off x="1861771" y="841980"/>
            <a:ext cx="10223368" cy="834502"/>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5400" b="1" dirty="0">
                <a:ln w="0"/>
                <a:solidFill>
                  <a:schemeClr val="bg1"/>
                </a:solidFill>
                <a:effectLst>
                  <a:outerShdw blurRad="38100" dist="19050" dir="2700000" algn="tl" rotWithShape="0">
                    <a:schemeClr val="dk1">
                      <a:alpha val="40000"/>
                    </a:schemeClr>
                  </a:outerShdw>
                </a:effectLst>
                <a:latin typeface="Segoe UI Light" panose="020B0502040204020203" pitchFamily="34" charset="0"/>
                <a:cs typeface="Segoe UI Light" panose="020B0502040204020203" pitchFamily="34" charset="0"/>
              </a:rPr>
              <a:t>St Joseph’s College of Engineering</a:t>
            </a:r>
          </a:p>
        </p:txBody>
      </p:sp>
      <p:pic>
        <p:nvPicPr>
          <p:cNvPr id="10" name="Picture 9" descr="A logo with text and images&#10;&#10;Description automatically generated with medium confidence">
            <a:extLst>
              <a:ext uri="{FF2B5EF4-FFF2-40B4-BE49-F238E27FC236}">
                <a16:creationId xmlns:a16="http://schemas.microsoft.com/office/drawing/2014/main" id="{D7D726B1-CB06-AC93-49D4-9164AACFF665}"/>
              </a:ext>
            </a:extLst>
          </p:cNvPr>
          <p:cNvPicPr>
            <a:picLocks noChangeAspect="1"/>
          </p:cNvPicPr>
          <p:nvPr/>
        </p:nvPicPr>
        <p:blipFill>
          <a:blip r:embed="rId2"/>
          <a:stretch>
            <a:fillRect/>
          </a:stretch>
        </p:blipFill>
        <p:spPr>
          <a:xfrm>
            <a:off x="237055" y="446873"/>
            <a:ext cx="1624716" cy="1624716"/>
          </a:xfrm>
          <a:prstGeom prst="rect">
            <a:avLst/>
          </a:prstGeom>
        </p:spPr>
      </p:pic>
    </p:spTree>
    <p:extLst>
      <p:ext uri="{BB962C8B-B14F-4D97-AF65-F5344CB8AC3E}">
        <p14:creationId xmlns:p14="http://schemas.microsoft.com/office/powerpoint/2010/main" val="29637463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0E1378B-530D-F24B-3DB8-3F2FA22318A4}"/>
              </a:ext>
            </a:extLst>
          </p:cNvPr>
          <p:cNvSpPr txBox="1"/>
          <p:nvPr/>
        </p:nvSpPr>
        <p:spPr>
          <a:xfrm>
            <a:off x="1628580" y="2136338"/>
            <a:ext cx="8339601" cy="3416320"/>
          </a:xfrm>
          <a:prstGeom prst="rect">
            <a:avLst/>
          </a:prstGeom>
          <a:noFill/>
        </p:spPr>
        <p:txBody>
          <a:bodyPr wrap="square">
            <a:spAutoFit/>
          </a:bodyPr>
          <a:lstStyle/>
          <a:p>
            <a:r>
              <a:rPr lang="en-IN" sz="3600" b="0" i="0" dirty="0">
                <a:solidFill>
                  <a:srgbClr val="333333"/>
                </a:solidFill>
                <a:effectLst/>
                <a:latin typeface="Calibri" panose="020F0502020204030204" pitchFamily="34" charset="0"/>
              </a:rPr>
              <a:t>PROBLEM STATEMENT:</a:t>
            </a:r>
          </a:p>
          <a:p>
            <a:endParaRPr lang="en-IN" dirty="0">
              <a:solidFill>
                <a:srgbClr val="333333"/>
              </a:solidFill>
              <a:latin typeface="HelveticaNeue Regular"/>
            </a:endParaRPr>
          </a:p>
          <a:p>
            <a:endParaRPr lang="en-IN" b="0" i="0" dirty="0">
              <a:solidFill>
                <a:srgbClr val="333333"/>
              </a:solidFill>
              <a:effectLst/>
              <a:latin typeface="HelveticaNeue Regular"/>
            </a:endParaRPr>
          </a:p>
          <a:p>
            <a:endParaRPr lang="en-IN" dirty="0">
              <a:solidFill>
                <a:srgbClr val="333333"/>
              </a:solidFill>
              <a:latin typeface="HelveticaNeue Regular"/>
            </a:endParaRPr>
          </a:p>
          <a:p>
            <a:r>
              <a:rPr lang="en-IN" b="0" i="0" dirty="0">
                <a:solidFill>
                  <a:srgbClr val="333333"/>
                </a:solidFill>
                <a:effectLst/>
                <a:latin typeface="HelveticaNeue Regular"/>
              </a:rPr>
              <a:t>However, the difficulties of overloaded hospitals frequently impede the seamless administration of this critical care. Currently, manual monitoring of IV drip levels is the responsibility of nurses and hospital employees. Unfortunately, their hectic schedules might lead to mistakes and omissions. Acknowledging the significance of tackling this core problem, the suggestion involves the creation of an independent, self-regulating drip monitoring system utilizing Internet of Things (</a:t>
            </a:r>
            <a:r>
              <a:rPr lang="en-IN" b="0" i="0" dirty="0" err="1">
                <a:solidFill>
                  <a:srgbClr val="333333"/>
                </a:solidFill>
                <a:effectLst/>
                <a:latin typeface="HelveticaNeue Regular"/>
              </a:rPr>
              <a:t>IoT</a:t>
            </a:r>
            <a:r>
              <a:rPr lang="en-IN" b="0" i="0" dirty="0">
                <a:solidFill>
                  <a:srgbClr val="333333"/>
                </a:solidFill>
                <a:effectLst/>
                <a:latin typeface="HelveticaNeue Regular"/>
              </a:rPr>
              <a:t>) technology. </a:t>
            </a:r>
            <a:endParaRPr lang="en-US" dirty="0"/>
          </a:p>
        </p:txBody>
      </p:sp>
    </p:spTree>
    <p:extLst>
      <p:ext uri="{BB962C8B-B14F-4D97-AF65-F5344CB8AC3E}">
        <p14:creationId xmlns:p14="http://schemas.microsoft.com/office/powerpoint/2010/main" val="11530875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DB5B423A-57CC-4C58-AA26-8E2E862B03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5217023" cy="3994777"/>
          </a:xfrm>
          <a:custGeom>
            <a:avLst/>
            <a:gdLst>
              <a:gd name="connsiteX0" fmla="*/ 1945461 w 5217023"/>
              <a:gd name="connsiteY0" fmla="*/ 3787398 h 3994777"/>
              <a:gd name="connsiteX1" fmla="*/ 1942113 w 5217023"/>
              <a:gd name="connsiteY1" fmla="*/ 3790053 h 3994777"/>
              <a:gd name="connsiteX2" fmla="*/ 1946982 w 5217023"/>
              <a:gd name="connsiteY2" fmla="*/ 3787990 h 3994777"/>
              <a:gd name="connsiteX3" fmla="*/ 1945461 w 5217023"/>
              <a:gd name="connsiteY3" fmla="*/ 3787398 h 3994777"/>
              <a:gd name="connsiteX4" fmla="*/ 0 w 5217023"/>
              <a:gd name="connsiteY4" fmla="*/ 0 h 3994777"/>
              <a:gd name="connsiteX5" fmla="*/ 5030958 w 5217023"/>
              <a:gd name="connsiteY5" fmla="*/ 0 h 3994777"/>
              <a:gd name="connsiteX6" fmla="*/ 5046198 w 5217023"/>
              <a:gd name="connsiteY6" fmla="*/ 153449 h 3994777"/>
              <a:gd name="connsiteX7" fmla="*/ 5055729 w 5217023"/>
              <a:gd name="connsiteY7" fmla="*/ 415828 h 3994777"/>
              <a:gd name="connsiteX8" fmla="*/ 4735242 w 5217023"/>
              <a:gd name="connsiteY8" fmla="*/ 1867130 h 3994777"/>
              <a:gd name="connsiteX9" fmla="*/ 3907395 w 5217023"/>
              <a:gd name="connsiteY9" fmla="*/ 2938441 h 3994777"/>
              <a:gd name="connsiteX10" fmla="*/ 3946497 w 5217023"/>
              <a:gd name="connsiteY10" fmla="*/ 2908567 h 3994777"/>
              <a:gd name="connsiteX11" fmla="*/ 4585421 w 5217023"/>
              <a:gd name="connsiteY11" fmla="*/ 2188401 h 3994777"/>
              <a:gd name="connsiteX12" fmla="*/ 5142585 w 5217023"/>
              <a:gd name="connsiteY12" fmla="*/ 276891 h 3994777"/>
              <a:gd name="connsiteX13" fmla="*/ 5121833 w 5217023"/>
              <a:gd name="connsiteY13" fmla="*/ 30208 h 3994777"/>
              <a:gd name="connsiteX14" fmla="*/ 5116229 w 5217023"/>
              <a:gd name="connsiteY14" fmla="*/ 0 h 3994777"/>
              <a:gd name="connsiteX15" fmla="*/ 5184724 w 5217023"/>
              <a:gd name="connsiteY15" fmla="*/ 0 h 3994777"/>
              <a:gd name="connsiteX16" fmla="*/ 5196265 w 5217023"/>
              <a:gd name="connsiteY16" fmla="*/ 66113 h 3994777"/>
              <a:gd name="connsiteX17" fmla="*/ 5058603 w 5217023"/>
              <a:gd name="connsiteY17" fmla="*/ 1368242 h 3994777"/>
              <a:gd name="connsiteX18" fmla="*/ 4096624 w 5217023"/>
              <a:gd name="connsiteY18" fmla="*/ 2870829 h 3994777"/>
              <a:gd name="connsiteX19" fmla="*/ 3833203 w 5217023"/>
              <a:gd name="connsiteY19" fmla="*/ 3092190 h 3994777"/>
              <a:gd name="connsiteX20" fmla="*/ 3536509 w 5217023"/>
              <a:gd name="connsiteY20" fmla="*/ 3297128 h 3994777"/>
              <a:gd name="connsiteX21" fmla="*/ 3148966 w 5217023"/>
              <a:gd name="connsiteY21" fmla="*/ 3485478 h 3994777"/>
              <a:gd name="connsiteX22" fmla="*/ 1860557 w 5217023"/>
              <a:gd name="connsiteY22" fmla="*/ 3880910 h 3994777"/>
              <a:gd name="connsiteX23" fmla="*/ 573715 w 5217023"/>
              <a:gd name="connsiteY23" fmla="*/ 3983764 h 3994777"/>
              <a:gd name="connsiteX24" fmla="*/ 108410 w 5217023"/>
              <a:gd name="connsiteY24" fmla="*/ 3908816 h 3994777"/>
              <a:gd name="connsiteX25" fmla="*/ 0 w 5217023"/>
              <a:gd name="connsiteY25" fmla="*/ 3876793 h 3994777"/>
              <a:gd name="connsiteX26" fmla="*/ 0 w 5217023"/>
              <a:gd name="connsiteY26" fmla="*/ 3802912 h 3994777"/>
              <a:gd name="connsiteX27" fmla="*/ 36975 w 5217023"/>
              <a:gd name="connsiteY27" fmla="*/ 3815954 h 3994777"/>
              <a:gd name="connsiteX28" fmla="*/ 561628 w 5217023"/>
              <a:gd name="connsiteY28" fmla="*/ 3912655 h 3994777"/>
              <a:gd name="connsiteX29" fmla="*/ 1683086 w 5217023"/>
              <a:gd name="connsiteY29" fmla="*/ 3844334 h 3994777"/>
              <a:gd name="connsiteX30" fmla="*/ 1806023 w 5217023"/>
              <a:gd name="connsiteY30" fmla="*/ 3820992 h 3994777"/>
              <a:gd name="connsiteX31" fmla="*/ 1921817 w 5217023"/>
              <a:gd name="connsiteY31" fmla="*/ 3795747 h 3994777"/>
              <a:gd name="connsiteX32" fmla="*/ 1243689 w 5217023"/>
              <a:gd name="connsiteY32" fmla="*/ 3846539 h 3994777"/>
              <a:gd name="connsiteX33" fmla="*/ 62875 w 5217023"/>
              <a:gd name="connsiteY33" fmla="*/ 3668143 h 3994777"/>
              <a:gd name="connsiteX34" fmla="*/ 0 w 5217023"/>
              <a:gd name="connsiteY34" fmla="*/ 3644185 h 3994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17023" h="3994777">
                <a:moveTo>
                  <a:pt x="1945461" y="3787398"/>
                </a:moveTo>
                <a:lnTo>
                  <a:pt x="1942113" y="3790053"/>
                </a:lnTo>
                <a:lnTo>
                  <a:pt x="1946982" y="3787990"/>
                </a:lnTo>
                <a:cubicBezTo>
                  <a:pt x="1946982" y="3787990"/>
                  <a:pt x="1946379" y="3787019"/>
                  <a:pt x="1945461" y="3787398"/>
                </a:cubicBezTo>
                <a:close/>
                <a:moveTo>
                  <a:pt x="0" y="0"/>
                </a:moveTo>
                <a:lnTo>
                  <a:pt x="5030958" y="0"/>
                </a:lnTo>
                <a:lnTo>
                  <a:pt x="5046198" y="153449"/>
                </a:lnTo>
                <a:cubicBezTo>
                  <a:pt x="5052189" y="240558"/>
                  <a:pt x="5055458" y="328007"/>
                  <a:pt x="5055729" y="415828"/>
                </a:cubicBezTo>
                <a:cubicBezTo>
                  <a:pt x="5057604" y="923672"/>
                  <a:pt x="4959210" y="1409054"/>
                  <a:pt x="4735242" y="1867130"/>
                </a:cubicBezTo>
                <a:cubicBezTo>
                  <a:pt x="4533284" y="2280198"/>
                  <a:pt x="4248921" y="2629330"/>
                  <a:pt x="3907395" y="2938441"/>
                </a:cubicBezTo>
                <a:cubicBezTo>
                  <a:pt x="3922498" y="2931535"/>
                  <a:pt x="3935859" y="2921330"/>
                  <a:pt x="3946497" y="2908567"/>
                </a:cubicBezTo>
                <a:cubicBezTo>
                  <a:pt x="4193494" y="2700987"/>
                  <a:pt x="4408756" y="2458364"/>
                  <a:pt x="4585421" y="2188401"/>
                </a:cubicBezTo>
                <a:cubicBezTo>
                  <a:pt x="4967641" y="1608533"/>
                  <a:pt x="5169304" y="975361"/>
                  <a:pt x="5142585" y="276891"/>
                </a:cubicBezTo>
                <a:cubicBezTo>
                  <a:pt x="5139764" y="194215"/>
                  <a:pt x="5132824" y="111888"/>
                  <a:pt x="5121833" y="30208"/>
                </a:cubicBezTo>
                <a:lnTo>
                  <a:pt x="5116229" y="0"/>
                </a:lnTo>
                <a:lnTo>
                  <a:pt x="5184724" y="0"/>
                </a:lnTo>
                <a:lnTo>
                  <a:pt x="5196265" y="66113"/>
                </a:lnTo>
                <a:cubicBezTo>
                  <a:pt x="5249921" y="496647"/>
                  <a:pt x="5197997" y="931171"/>
                  <a:pt x="5058603" y="1368242"/>
                </a:cubicBezTo>
                <a:cubicBezTo>
                  <a:pt x="4872414" y="1953929"/>
                  <a:pt x="4544298" y="2451351"/>
                  <a:pt x="4096624" y="2870829"/>
                </a:cubicBezTo>
                <a:cubicBezTo>
                  <a:pt x="4012832" y="2949426"/>
                  <a:pt x="3924415" y="3022439"/>
                  <a:pt x="3833203" y="3092190"/>
                </a:cubicBezTo>
                <a:cubicBezTo>
                  <a:pt x="3741992" y="3161943"/>
                  <a:pt x="3648667" y="3225510"/>
                  <a:pt x="3536509" y="3297128"/>
                </a:cubicBezTo>
                <a:cubicBezTo>
                  <a:pt x="3427215" y="3372735"/>
                  <a:pt x="3288598" y="3430233"/>
                  <a:pt x="3148966" y="3485478"/>
                </a:cubicBezTo>
                <a:cubicBezTo>
                  <a:pt x="2729930" y="3651299"/>
                  <a:pt x="2302194" y="3788890"/>
                  <a:pt x="1860557" y="3880910"/>
                </a:cubicBezTo>
                <a:cubicBezTo>
                  <a:pt x="1435974" y="3969444"/>
                  <a:pt x="1008052" y="4017957"/>
                  <a:pt x="573715" y="3983764"/>
                </a:cubicBezTo>
                <a:cubicBezTo>
                  <a:pt x="415134" y="3971300"/>
                  <a:pt x="259585" y="3947743"/>
                  <a:pt x="108410" y="3908816"/>
                </a:cubicBezTo>
                <a:lnTo>
                  <a:pt x="0" y="3876793"/>
                </a:lnTo>
                <a:lnTo>
                  <a:pt x="0" y="3802912"/>
                </a:lnTo>
                <a:lnTo>
                  <a:pt x="36975" y="3815954"/>
                </a:lnTo>
                <a:cubicBezTo>
                  <a:pt x="206404" y="3867475"/>
                  <a:pt x="382020" y="3897326"/>
                  <a:pt x="561628" y="3912655"/>
                </a:cubicBezTo>
                <a:cubicBezTo>
                  <a:pt x="938583" y="3944832"/>
                  <a:pt x="1311814" y="3910697"/>
                  <a:pt x="1683086" y="3844334"/>
                </a:cubicBezTo>
                <a:cubicBezTo>
                  <a:pt x="1724123" y="3837151"/>
                  <a:pt x="1765097" y="3829374"/>
                  <a:pt x="1806023" y="3820992"/>
                </a:cubicBezTo>
                <a:cubicBezTo>
                  <a:pt x="1844740" y="3813079"/>
                  <a:pt x="1883218" y="3804161"/>
                  <a:pt x="1921817" y="3795747"/>
                </a:cubicBezTo>
                <a:cubicBezTo>
                  <a:pt x="1697011" y="3826435"/>
                  <a:pt x="1470551" y="3843387"/>
                  <a:pt x="1243689" y="3846539"/>
                </a:cubicBezTo>
                <a:cubicBezTo>
                  <a:pt x="839058" y="3849054"/>
                  <a:pt x="443424" y="3800206"/>
                  <a:pt x="62875" y="3668143"/>
                </a:cubicBezTo>
                <a:lnTo>
                  <a:pt x="0" y="364418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9174E26-4AC0-A301-3FC2-CD559E1BD3F0}"/>
              </a:ext>
            </a:extLst>
          </p:cNvPr>
          <p:cNvSpPr>
            <a:spLocks noGrp="1"/>
          </p:cNvSpPr>
          <p:nvPr>
            <p:ph type="title"/>
          </p:nvPr>
        </p:nvSpPr>
        <p:spPr>
          <a:xfrm>
            <a:off x="121763" y="1237129"/>
            <a:ext cx="4120299" cy="900506"/>
          </a:xfrm>
        </p:spPr>
        <p:txBody>
          <a:bodyPr anchor="t">
            <a:normAutofit/>
          </a:bodyPr>
          <a:lstStyle/>
          <a:p>
            <a:r>
              <a:rPr lang="en-US" sz="4800" dirty="0">
                <a:solidFill>
                  <a:srgbClr val="FFFFFF"/>
                </a:solidFill>
                <a:latin typeface="Calibri" panose="020F0502020204030204" pitchFamily="34" charset="0"/>
                <a:cs typeface="Calibri" panose="020F0502020204030204" pitchFamily="34" charset="0"/>
              </a:rPr>
              <a:t>Project Goal</a:t>
            </a:r>
          </a:p>
        </p:txBody>
      </p:sp>
      <p:sp>
        <p:nvSpPr>
          <p:cNvPr id="3" name="Content Placeholder 2">
            <a:extLst>
              <a:ext uri="{FF2B5EF4-FFF2-40B4-BE49-F238E27FC236}">
                <a16:creationId xmlns:a16="http://schemas.microsoft.com/office/drawing/2014/main" id="{0FCF8E4B-0146-5AB5-9F6F-DCFB846D0C76}"/>
              </a:ext>
            </a:extLst>
          </p:cNvPr>
          <p:cNvSpPr>
            <a:spLocks/>
          </p:cNvSpPr>
          <p:nvPr/>
        </p:nvSpPr>
        <p:spPr>
          <a:xfrm>
            <a:off x="5560364" y="1237129"/>
            <a:ext cx="6628588" cy="1661042"/>
          </a:xfrm>
          <a:prstGeom prst="rect">
            <a:avLst/>
          </a:prstGeom>
        </p:spPr>
        <p:txBody>
          <a:bodyPr/>
          <a:lstStyle/>
          <a:p>
            <a:pPr defTabSz="502920">
              <a:spcAft>
                <a:spcPts val="600"/>
              </a:spcAft>
            </a:pPr>
            <a:r>
              <a:rPr lang="en-US" sz="3200" i="1" kern="1200" dirty="0">
                <a:solidFill>
                  <a:srgbClr val="C00000"/>
                </a:solidFill>
                <a:latin typeface="Calibri" panose="020F0502020204030204" pitchFamily="34" charset="0"/>
                <a:cs typeface="Calibri" panose="020F0502020204030204" pitchFamily="34" charset="0"/>
              </a:rPr>
              <a:t>“Good health and well being ensures healthy lives and promote well-being for all at all age</a:t>
            </a:r>
            <a:r>
              <a:rPr lang="en-US" sz="3200" i="1" dirty="0">
                <a:solidFill>
                  <a:srgbClr val="C00000"/>
                </a:solidFill>
                <a:latin typeface="Calibri" panose="020F0502020204030204" pitchFamily="34" charset="0"/>
                <a:cs typeface="Calibri" panose="020F0502020204030204" pitchFamily="34" charset="0"/>
              </a:rPr>
              <a:t>”</a:t>
            </a:r>
          </a:p>
        </p:txBody>
      </p:sp>
      <p:sp>
        <p:nvSpPr>
          <p:cNvPr id="5" name="TextBox 4">
            <a:extLst>
              <a:ext uri="{FF2B5EF4-FFF2-40B4-BE49-F238E27FC236}">
                <a16:creationId xmlns:a16="http://schemas.microsoft.com/office/drawing/2014/main" id="{976698EB-57E7-38E2-2112-97697132EE7B}"/>
              </a:ext>
            </a:extLst>
          </p:cNvPr>
          <p:cNvSpPr txBox="1"/>
          <p:nvPr/>
        </p:nvSpPr>
        <p:spPr>
          <a:xfrm>
            <a:off x="2951872" y="3844023"/>
            <a:ext cx="5548904" cy="523220"/>
          </a:xfrm>
          <a:prstGeom prst="rect">
            <a:avLst/>
          </a:prstGeom>
          <a:noFill/>
        </p:spPr>
        <p:txBody>
          <a:bodyPr wrap="square" rtlCol="0">
            <a:spAutoFit/>
          </a:bodyPr>
          <a:lstStyle/>
          <a:p>
            <a:pPr defTabSz="502920">
              <a:spcAft>
                <a:spcPts val="600"/>
              </a:spcAft>
            </a:pPr>
            <a:r>
              <a:rPr lang="en-US" sz="2800" kern="1200" dirty="0">
                <a:solidFill>
                  <a:srgbClr val="7030A0"/>
                </a:solidFill>
                <a:latin typeface="Calibri" panose="020F0502020204030204" pitchFamily="34" charset="0"/>
                <a:ea typeface="+mn-ea"/>
                <a:cs typeface="Calibri" panose="020F0502020204030204" pitchFamily="34" charset="0"/>
              </a:rPr>
              <a:t>How It is Related To Our Project:</a:t>
            </a:r>
            <a:endParaRPr lang="en-US" sz="2800" dirty="0">
              <a:solidFill>
                <a:srgbClr val="7030A0"/>
              </a:solidFill>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4DBB7B44-8F36-9FA6-D317-FE36A1AD7143}"/>
              </a:ext>
            </a:extLst>
          </p:cNvPr>
          <p:cNvSpPr txBox="1"/>
          <p:nvPr/>
        </p:nvSpPr>
        <p:spPr>
          <a:xfrm>
            <a:off x="2951872" y="4472847"/>
            <a:ext cx="8739700" cy="1354217"/>
          </a:xfrm>
          <a:prstGeom prst="rect">
            <a:avLst/>
          </a:prstGeom>
          <a:noFill/>
        </p:spPr>
        <p:txBody>
          <a:bodyPr wrap="none" rtlCol="0">
            <a:spAutoFit/>
          </a:bodyPr>
          <a:lstStyle/>
          <a:p>
            <a:pPr marL="157163" indent="-157163" defTabSz="502920">
              <a:spcAft>
                <a:spcPts val="600"/>
              </a:spcAft>
              <a:buFont typeface="Arial" panose="020B0604020202020204" pitchFamily="34" charset="0"/>
              <a:buChar char="•"/>
            </a:pPr>
            <a:r>
              <a:rPr lang="en-US" sz="2400" kern="1200" dirty="0">
                <a:solidFill>
                  <a:schemeClr val="tx1"/>
                </a:solidFill>
                <a:latin typeface="Calibri" panose="020F0502020204030204" pitchFamily="34" charset="0"/>
                <a:ea typeface="+mn-ea"/>
                <a:cs typeface="Calibri" panose="020F0502020204030204" pitchFamily="34" charset="0"/>
              </a:rPr>
              <a:t>The IV drip monitoring system is to ensure the safe and effective </a:t>
            </a:r>
          </a:p>
          <a:p>
            <a:pPr defTabSz="502920">
              <a:spcAft>
                <a:spcPts val="600"/>
              </a:spcAft>
            </a:pPr>
            <a:r>
              <a:rPr lang="en-US" sz="2400" kern="1200" dirty="0">
                <a:solidFill>
                  <a:schemeClr val="tx1"/>
                </a:solidFill>
                <a:latin typeface="Calibri" panose="020F0502020204030204" pitchFamily="34" charset="0"/>
                <a:ea typeface="+mn-ea"/>
                <a:cs typeface="Calibri" panose="020F0502020204030204" pitchFamily="34" charset="0"/>
              </a:rPr>
              <a:t>delivery of fluids and medications to patients in healthcare settings </a:t>
            </a:r>
          </a:p>
          <a:p>
            <a:pPr defTabSz="502920">
              <a:spcAft>
                <a:spcPts val="600"/>
              </a:spcAft>
            </a:pPr>
            <a:r>
              <a:rPr lang="en-US" sz="2400" kern="1200" dirty="0">
                <a:solidFill>
                  <a:schemeClr val="tx1"/>
                </a:solidFill>
                <a:latin typeface="Calibri" panose="020F0502020204030204" pitchFamily="34" charset="0"/>
                <a:ea typeface="+mn-ea"/>
                <a:cs typeface="Calibri" panose="020F0502020204030204" pitchFamily="34" charset="0"/>
              </a:rPr>
              <a:t>which </a:t>
            </a:r>
            <a:r>
              <a:rPr lang="en-US" sz="2400" kern="1200" dirty="0" err="1">
                <a:solidFill>
                  <a:schemeClr val="tx1"/>
                </a:solidFill>
                <a:latin typeface="Calibri" panose="020F0502020204030204" pitchFamily="34" charset="0"/>
                <a:ea typeface="+mn-ea"/>
                <a:cs typeface="Calibri" panose="020F0502020204030204" pitchFamily="34" charset="0"/>
              </a:rPr>
              <a:t>inturn</a:t>
            </a:r>
            <a:r>
              <a:rPr lang="en-US" sz="2400" kern="1200" dirty="0">
                <a:solidFill>
                  <a:schemeClr val="tx1"/>
                </a:solidFill>
                <a:latin typeface="Calibri" panose="020F0502020204030204" pitchFamily="34" charset="0"/>
                <a:ea typeface="+mn-ea"/>
                <a:cs typeface="Calibri" panose="020F0502020204030204" pitchFamily="34" charset="0"/>
              </a:rPr>
              <a:t> provide good health and well being of people at all age </a:t>
            </a:r>
            <a:endParaRPr 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178476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944E337-3E5D-4A1F-A5A1-2057F25B8A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DA50D69-7CF7-4844-B844-A2B821C77F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854"/>
            <a:ext cx="12192000" cy="6865854"/>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1B9ADE-8CE9-0F97-A0CA-BE1F5483268D}"/>
              </a:ext>
            </a:extLst>
          </p:cNvPr>
          <p:cNvSpPr>
            <a:spLocks noGrp="1"/>
          </p:cNvSpPr>
          <p:nvPr>
            <p:ph type="title"/>
          </p:nvPr>
        </p:nvSpPr>
        <p:spPr>
          <a:xfrm>
            <a:off x="4572001" y="296944"/>
            <a:ext cx="6781800" cy="837589"/>
          </a:xfrm>
        </p:spPr>
        <p:txBody>
          <a:bodyPr>
            <a:normAutofit/>
          </a:bodyPr>
          <a:lstStyle/>
          <a:p>
            <a:r>
              <a:rPr lang="en-US" dirty="0">
                <a:latin typeface="Calibri" panose="020F0502020204030204" pitchFamily="34" charset="0"/>
                <a:cs typeface="Calibri" panose="020F0502020204030204" pitchFamily="34" charset="0"/>
              </a:rPr>
              <a:t>ABSTRACT:</a:t>
            </a:r>
          </a:p>
        </p:txBody>
      </p:sp>
      <p:pic>
        <p:nvPicPr>
          <p:cNvPr id="5" name="Picture 4" descr="Open doors">
            <a:extLst>
              <a:ext uri="{FF2B5EF4-FFF2-40B4-BE49-F238E27FC236}">
                <a16:creationId xmlns:a16="http://schemas.microsoft.com/office/drawing/2014/main" id="{5BEA00D4-5318-3361-6B31-19D84A81B021}"/>
              </a:ext>
            </a:extLst>
          </p:cNvPr>
          <p:cNvPicPr>
            <a:picLocks noChangeAspect="1"/>
          </p:cNvPicPr>
          <p:nvPr/>
        </p:nvPicPr>
        <p:blipFill rotWithShape="1">
          <a:blip r:embed="rId2"/>
          <a:srcRect l="45426" r="18028" b="-1"/>
          <a:stretch/>
        </p:blipFill>
        <p:spPr>
          <a:xfrm>
            <a:off x="20" y="10"/>
            <a:ext cx="3754739" cy="6857990"/>
          </a:xfrm>
          <a:custGeom>
            <a:avLst/>
            <a:gdLst/>
            <a:ahLst/>
            <a:cxnLst/>
            <a:rect l="l" t="t" r="r" b="b"/>
            <a:pathLst>
              <a:path w="3754759" h="6858000">
                <a:moveTo>
                  <a:pt x="0" y="0"/>
                </a:moveTo>
                <a:lnTo>
                  <a:pt x="3405358" y="0"/>
                </a:lnTo>
                <a:lnTo>
                  <a:pt x="3406298" y="5103"/>
                </a:lnTo>
                <a:cubicBezTo>
                  <a:pt x="3408705" y="9272"/>
                  <a:pt x="3410993" y="13534"/>
                  <a:pt x="3408744" y="22806"/>
                </a:cubicBezTo>
                <a:cubicBezTo>
                  <a:pt x="3398212" y="18869"/>
                  <a:pt x="3412504" y="58782"/>
                  <a:pt x="3403554" y="60481"/>
                </a:cubicBezTo>
                <a:cubicBezTo>
                  <a:pt x="3417198" y="75379"/>
                  <a:pt x="3401704" y="83956"/>
                  <a:pt x="3406685" y="104437"/>
                </a:cubicBezTo>
                <a:cubicBezTo>
                  <a:pt x="3412035" y="113935"/>
                  <a:pt x="3413215" y="120918"/>
                  <a:pt x="3408439" y="130745"/>
                </a:cubicBezTo>
                <a:cubicBezTo>
                  <a:pt x="3434362" y="174436"/>
                  <a:pt x="3410826" y="157826"/>
                  <a:pt x="3422002" y="199353"/>
                </a:cubicBezTo>
                <a:cubicBezTo>
                  <a:pt x="3433366" y="235046"/>
                  <a:pt x="3441595" y="275734"/>
                  <a:pt x="3466217" y="309590"/>
                </a:cubicBezTo>
                <a:cubicBezTo>
                  <a:pt x="3473022" y="315692"/>
                  <a:pt x="3476249" y="331335"/>
                  <a:pt x="3473425" y="344525"/>
                </a:cubicBezTo>
                <a:cubicBezTo>
                  <a:pt x="3472938" y="346792"/>
                  <a:pt x="3472286" y="348904"/>
                  <a:pt x="3471491" y="350788"/>
                </a:cubicBezTo>
                <a:cubicBezTo>
                  <a:pt x="3476473" y="380853"/>
                  <a:pt x="3497528" y="490678"/>
                  <a:pt x="3503314" y="524915"/>
                </a:cubicBezTo>
                <a:cubicBezTo>
                  <a:pt x="3495110" y="528110"/>
                  <a:pt x="3511009" y="544789"/>
                  <a:pt x="3506208" y="556205"/>
                </a:cubicBezTo>
                <a:cubicBezTo>
                  <a:pt x="3501906" y="564424"/>
                  <a:pt x="3505727" y="571402"/>
                  <a:pt x="3506503" y="579730"/>
                </a:cubicBezTo>
                <a:cubicBezTo>
                  <a:pt x="3503352" y="590904"/>
                  <a:pt x="3511763" y="626437"/>
                  <a:pt x="3516997" y="635552"/>
                </a:cubicBezTo>
                <a:cubicBezTo>
                  <a:pt x="3534688" y="657082"/>
                  <a:pt x="3524838" y="708447"/>
                  <a:pt x="3538464" y="726388"/>
                </a:cubicBezTo>
                <a:cubicBezTo>
                  <a:pt x="3540659" y="733032"/>
                  <a:pt x="3541735" y="739585"/>
                  <a:pt x="3542115" y="746049"/>
                </a:cubicBezTo>
                <a:lnTo>
                  <a:pt x="3541598" y="764218"/>
                </a:lnTo>
                <a:lnTo>
                  <a:pt x="3538294" y="769538"/>
                </a:lnTo>
                <a:lnTo>
                  <a:pt x="3539714" y="780556"/>
                </a:lnTo>
                <a:lnTo>
                  <a:pt x="3539328" y="783752"/>
                </a:lnTo>
                <a:cubicBezTo>
                  <a:pt x="3538575" y="789859"/>
                  <a:pt x="3537953" y="795880"/>
                  <a:pt x="3537882" y="801812"/>
                </a:cubicBezTo>
                <a:cubicBezTo>
                  <a:pt x="3555332" y="793164"/>
                  <a:pt x="3540143" y="850853"/>
                  <a:pt x="3553763" y="833773"/>
                </a:cubicBezTo>
                <a:cubicBezTo>
                  <a:pt x="3556400" y="864868"/>
                  <a:pt x="3568671" y="840452"/>
                  <a:pt x="3557696" y="878520"/>
                </a:cubicBezTo>
                <a:cubicBezTo>
                  <a:pt x="3574636" y="926170"/>
                  <a:pt x="3572932" y="1002669"/>
                  <a:pt x="3596902" y="1039468"/>
                </a:cubicBezTo>
                <a:cubicBezTo>
                  <a:pt x="3588227" y="1035176"/>
                  <a:pt x="3582669" y="1055878"/>
                  <a:pt x="3587550" y="1069793"/>
                </a:cubicBezTo>
                <a:cubicBezTo>
                  <a:pt x="3553603" y="1054905"/>
                  <a:pt x="3620138" y="1124159"/>
                  <a:pt x="3598129" y="1137690"/>
                </a:cubicBezTo>
                <a:cubicBezTo>
                  <a:pt x="3619154" y="1137277"/>
                  <a:pt x="3657845" y="1198819"/>
                  <a:pt x="3642072" y="1229443"/>
                </a:cubicBezTo>
                <a:cubicBezTo>
                  <a:pt x="3648492" y="1274612"/>
                  <a:pt x="3667414" y="1305895"/>
                  <a:pt x="3662799" y="1353804"/>
                </a:cubicBezTo>
                <a:cubicBezTo>
                  <a:pt x="3665680" y="1355144"/>
                  <a:pt x="3668149" y="1357448"/>
                  <a:pt x="3670319" y="1360420"/>
                </a:cubicBezTo>
                <a:lnTo>
                  <a:pt x="3675717" y="1370453"/>
                </a:lnTo>
                <a:lnTo>
                  <a:pt x="3675458" y="1372456"/>
                </a:lnTo>
                <a:cubicBezTo>
                  <a:pt x="3675775" y="1380261"/>
                  <a:pt x="3677154" y="1384198"/>
                  <a:pt x="3678998" y="1386422"/>
                </a:cubicBezTo>
                <a:lnTo>
                  <a:pt x="3681613" y="1387932"/>
                </a:lnTo>
                <a:lnTo>
                  <a:pt x="3684619" y="1397028"/>
                </a:lnTo>
                <a:lnTo>
                  <a:pt x="3692094" y="1413643"/>
                </a:lnTo>
                <a:lnTo>
                  <a:pt x="3692036" y="1417975"/>
                </a:lnTo>
                <a:lnTo>
                  <a:pt x="3701043" y="1444940"/>
                </a:lnTo>
                <a:lnTo>
                  <a:pt x="3700474" y="1445893"/>
                </a:lnTo>
                <a:cubicBezTo>
                  <a:pt x="3699407" y="1448641"/>
                  <a:pt x="3699006" y="1451835"/>
                  <a:pt x="3699990" y="1456030"/>
                </a:cubicBezTo>
                <a:cubicBezTo>
                  <a:pt x="3688343" y="1458099"/>
                  <a:pt x="3696713" y="1461887"/>
                  <a:pt x="3700642" y="1474079"/>
                </a:cubicBezTo>
                <a:cubicBezTo>
                  <a:pt x="3683431" y="1480016"/>
                  <a:pt x="3700716" y="1509516"/>
                  <a:pt x="3693587" y="1522890"/>
                </a:cubicBezTo>
                <a:cubicBezTo>
                  <a:pt x="3696861" y="1531716"/>
                  <a:pt x="3700010" y="1541157"/>
                  <a:pt x="3702900" y="1551068"/>
                </a:cubicBezTo>
                <a:lnTo>
                  <a:pt x="3708038" y="1631578"/>
                </a:lnTo>
                <a:lnTo>
                  <a:pt x="3698097" y="1716642"/>
                </a:lnTo>
                <a:cubicBezTo>
                  <a:pt x="3699314" y="1747867"/>
                  <a:pt x="3695412" y="1775147"/>
                  <a:pt x="3700384" y="1801382"/>
                </a:cubicBezTo>
                <a:cubicBezTo>
                  <a:pt x="3696845" y="1812311"/>
                  <a:pt x="3695699" y="1822504"/>
                  <a:pt x="3702257" y="1832013"/>
                </a:cubicBezTo>
                <a:cubicBezTo>
                  <a:pt x="3701651" y="1861238"/>
                  <a:pt x="3693313" y="1868713"/>
                  <a:pt x="3700986" y="1886838"/>
                </a:cubicBezTo>
                <a:cubicBezTo>
                  <a:pt x="3687741" y="1903887"/>
                  <a:pt x="3693148" y="1904594"/>
                  <a:pt x="3697545" y="1912087"/>
                </a:cubicBezTo>
                <a:lnTo>
                  <a:pt x="3697885" y="1913171"/>
                </a:lnTo>
                <a:lnTo>
                  <a:pt x="3695987" y="1915505"/>
                </a:lnTo>
                <a:lnTo>
                  <a:pt x="3695284" y="1920179"/>
                </a:lnTo>
                <a:lnTo>
                  <a:pt x="3696499" y="1932787"/>
                </a:lnTo>
                <a:lnTo>
                  <a:pt x="3697473" y="1937503"/>
                </a:lnTo>
                <a:cubicBezTo>
                  <a:pt x="3697953" y="1940760"/>
                  <a:pt x="3698023" y="1942937"/>
                  <a:pt x="3697799" y="1944457"/>
                </a:cubicBezTo>
                <a:lnTo>
                  <a:pt x="3697642" y="1944638"/>
                </a:lnTo>
                <a:lnTo>
                  <a:pt x="3698268" y="1951136"/>
                </a:lnTo>
                <a:cubicBezTo>
                  <a:pt x="3699704" y="1962083"/>
                  <a:pt x="3701457" y="1972719"/>
                  <a:pt x="3703418" y="1982828"/>
                </a:cubicBezTo>
                <a:cubicBezTo>
                  <a:pt x="3694620" y="1991887"/>
                  <a:pt x="3707345" y="2028973"/>
                  <a:pt x="3689767" y="2025705"/>
                </a:cubicBezTo>
                <a:cubicBezTo>
                  <a:pt x="3691896" y="2039367"/>
                  <a:pt x="3699517" y="2047321"/>
                  <a:pt x="3687894" y="2043252"/>
                </a:cubicBezTo>
                <a:cubicBezTo>
                  <a:pt x="3688268" y="2047766"/>
                  <a:pt x="3687435" y="2050599"/>
                  <a:pt x="3686015" y="2052668"/>
                </a:cubicBezTo>
                <a:lnTo>
                  <a:pt x="3685329" y="2053280"/>
                </a:lnTo>
                <a:lnTo>
                  <a:pt x="3690348" y="2083660"/>
                </a:lnTo>
                <a:lnTo>
                  <a:pt x="3689688" y="2087758"/>
                </a:lnTo>
                <a:lnTo>
                  <a:pt x="3694656" y="2107476"/>
                </a:lnTo>
                <a:lnTo>
                  <a:pt x="3696317" y="2117709"/>
                </a:lnTo>
                <a:lnTo>
                  <a:pt x="3698652" y="2120508"/>
                </a:lnTo>
                <a:cubicBezTo>
                  <a:pt x="3700138" y="2123582"/>
                  <a:pt x="3700933" y="2128051"/>
                  <a:pt x="3700157" y="2135655"/>
                </a:cubicBezTo>
                <a:lnTo>
                  <a:pt x="3699626" y="2137431"/>
                </a:lnTo>
                <a:lnTo>
                  <a:pt x="3703486" y="2149795"/>
                </a:lnTo>
                <a:cubicBezTo>
                  <a:pt x="3705184" y="2153754"/>
                  <a:pt x="3707268" y="2157232"/>
                  <a:pt x="3709885" y="2160002"/>
                </a:cubicBezTo>
                <a:cubicBezTo>
                  <a:pt x="3698737" y="2203287"/>
                  <a:pt x="3712805" y="2242927"/>
                  <a:pt x="3712777" y="2289319"/>
                </a:cubicBezTo>
                <a:cubicBezTo>
                  <a:pt x="3693169" y="2310331"/>
                  <a:pt x="3722276" y="2389074"/>
                  <a:pt x="3742794" y="2399589"/>
                </a:cubicBezTo>
                <a:cubicBezTo>
                  <a:pt x="3725319" y="2400703"/>
                  <a:pt x="3751962" y="2457534"/>
                  <a:pt x="3753311" y="2472464"/>
                </a:cubicBezTo>
                <a:cubicBezTo>
                  <a:pt x="3753760" y="2477441"/>
                  <a:pt x="3751399" y="2477762"/>
                  <a:pt x="3743656" y="2469811"/>
                </a:cubicBezTo>
                <a:cubicBezTo>
                  <a:pt x="3746474" y="2485608"/>
                  <a:pt x="3738186" y="2502460"/>
                  <a:pt x="3730339" y="2493869"/>
                </a:cubicBezTo>
                <a:cubicBezTo>
                  <a:pt x="3748556" y="2541387"/>
                  <a:pt x="3736267" y="2613433"/>
                  <a:pt x="3746134" y="2667651"/>
                </a:cubicBezTo>
                <a:cubicBezTo>
                  <a:pt x="3730160" y="2698252"/>
                  <a:pt x="3745496" y="2681337"/>
                  <a:pt x="3743743" y="2712354"/>
                </a:cubicBezTo>
                <a:cubicBezTo>
                  <a:pt x="3759373" y="2703131"/>
                  <a:pt x="3736572" y="2750256"/>
                  <a:pt x="3754759" y="2751060"/>
                </a:cubicBezTo>
                <a:cubicBezTo>
                  <a:pt x="3753864" y="2756679"/>
                  <a:pt x="3752424" y="2762098"/>
                  <a:pt x="3750841" y="2767527"/>
                </a:cubicBezTo>
                <a:lnTo>
                  <a:pt x="3750021" y="2770377"/>
                </a:lnTo>
                <a:lnTo>
                  <a:pt x="3749874" y="2781617"/>
                </a:lnTo>
                <a:lnTo>
                  <a:pt x="3745916" y="2784975"/>
                </a:lnTo>
                <a:lnTo>
                  <a:pt x="3742888" y="2802030"/>
                </a:lnTo>
                <a:cubicBezTo>
                  <a:pt x="3742360" y="2808388"/>
                  <a:pt x="3742498" y="2815196"/>
                  <a:pt x="3743710" y="2822667"/>
                </a:cubicBezTo>
                <a:cubicBezTo>
                  <a:pt x="3751787" y="2840797"/>
                  <a:pt x="3744398" y="2870002"/>
                  <a:pt x="3746201" y="2896003"/>
                </a:cubicBezTo>
                <a:lnTo>
                  <a:pt x="3749006" y="2907846"/>
                </a:lnTo>
                <a:lnTo>
                  <a:pt x="3747206" y="2947037"/>
                </a:lnTo>
                <a:cubicBezTo>
                  <a:pt x="3747030" y="2958176"/>
                  <a:pt x="3747214" y="2969719"/>
                  <a:pt x="3748070" y="2981841"/>
                </a:cubicBezTo>
                <a:lnTo>
                  <a:pt x="3750937" y="3004278"/>
                </a:lnTo>
                <a:lnTo>
                  <a:pt x="3749761" y="3010254"/>
                </a:lnTo>
                <a:cubicBezTo>
                  <a:pt x="3750425" y="3020530"/>
                  <a:pt x="3756245" y="3033889"/>
                  <a:pt x="3749923" y="3032983"/>
                </a:cubicBezTo>
                <a:lnTo>
                  <a:pt x="3752658" y="3044429"/>
                </a:lnTo>
                <a:lnTo>
                  <a:pt x="3748217" y="3056076"/>
                </a:lnTo>
                <a:cubicBezTo>
                  <a:pt x="3747117" y="3057381"/>
                  <a:pt x="3745928" y="3058381"/>
                  <a:pt x="3744691" y="3059042"/>
                </a:cubicBezTo>
                <a:lnTo>
                  <a:pt x="3747123" y="3075102"/>
                </a:lnTo>
                <a:lnTo>
                  <a:pt x="3744190" y="3088509"/>
                </a:lnTo>
                <a:lnTo>
                  <a:pt x="3747093" y="3099930"/>
                </a:lnTo>
                <a:lnTo>
                  <a:pt x="3746799" y="3104743"/>
                </a:lnTo>
                <a:lnTo>
                  <a:pt x="3745610" y="3116729"/>
                </a:lnTo>
                <a:cubicBezTo>
                  <a:pt x="3744666" y="3122891"/>
                  <a:pt x="3743503" y="3129792"/>
                  <a:pt x="3742676" y="3137453"/>
                </a:cubicBezTo>
                <a:lnTo>
                  <a:pt x="3742441" y="3143884"/>
                </a:lnTo>
                <a:lnTo>
                  <a:pt x="3737104" y="3158122"/>
                </a:lnTo>
                <a:cubicBezTo>
                  <a:pt x="3733050" y="3168490"/>
                  <a:pt x="3730374" y="3176626"/>
                  <a:pt x="3733275" y="3185367"/>
                </a:cubicBezTo>
                <a:cubicBezTo>
                  <a:pt x="3728135" y="3200760"/>
                  <a:pt x="3712176" y="3212117"/>
                  <a:pt x="3717639" y="3233769"/>
                </a:cubicBezTo>
                <a:cubicBezTo>
                  <a:pt x="3709851" y="3227497"/>
                  <a:pt x="3717920" y="3258095"/>
                  <a:pt x="3710433" y="3262123"/>
                </a:cubicBezTo>
                <a:cubicBezTo>
                  <a:pt x="3704342" y="3264110"/>
                  <a:pt x="3705370" y="3273856"/>
                  <a:pt x="3703458" y="3281408"/>
                </a:cubicBezTo>
                <a:cubicBezTo>
                  <a:pt x="3697412" y="3287020"/>
                  <a:pt x="3693483" y="3324746"/>
                  <a:pt x="3695027" y="3337739"/>
                </a:cubicBezTo>
                <a:cubicBezTo>
                  <a:pt x="3703095" y="3374177"/>
                  <a:pt x="3679154" y="3404974"/>
                  <a:pt x="3684951" y="3434139"/>
                </a:cubicBezTo>
                <a:cubicBezTo>
                  <a:pt x="3684732" y="3441861"/>
                  <a:pt x="3683615" y="3448308"/>
                  <a:pt x="3681946" y="3453928"/>
                </a:cubicBezTo>
                <a:lnTo>
                  <a:pt x="3675939" y="3468021"/>
                </a:lnTo>
                <a:cubicBezTo>
                  <a:pt x="3674480" y="3468264"/>
                  <a:pt x="3673022" y="3468506"/>
                  <a:pt x="3671563" y="3468748"/>
                </a:cubicBezTo>
                <a:lnTo>
                  <a:pt x="3669360" y="3479164"/>
                </a:lnTo>
                <a:lnTo>
                  <a:pt x="3668060" y="3481325"/>
                </a:lnTo>
                <a:cubicBezTo>
                  <a:pt x="3665560" y="3485437"/>
                  <a:pt x="3663197" y="3489622"/>
                  <a:pt x="3661315" y="3494328"/>
                </a:cubicBezTo>
                <a:cubicBezTo>
                  <a:pt x="3678446" y="3506175"/>
                  <a:pt x="3648136" y="3536311"/>
                  <a:pt x="3664679" y="3537226"/>
                </a:cubicBezTo>
                <a:cubicBezTo>
                  <a:pt x="3657322" y="3565147"/>
                  <a:pt x="3674997" y="3558694"/>
                  <a:pt x="3654205" y="3577551"/>
                </a:cubicBezTo>
                <a:cubicBezTo>
                  <a:pt x="3653633" y="3634248"/>
                  <a:pt x="3628736" y="3694092"/>
                  <a:pt x="3637325" y="3749618"/>
                </a:cubicBezTo>
                <a:cubicBezTo>
                  <a:pt x="3631446" y="3736800"/>
                  <a:pt x="3620480" y="3747498"/>
                  <a:pt x="3620258" y="3763981"/>
                </a:cubicBezTo>
                <a:cubicBezTo>
                  <a:pt x="3596667" y="3715365"/>
                  <a:pt x="3630603" y="3842969"/>
                  <a:pt x="3608193" y="3830141"/>
                </a:cubicBezTo>
                <a:cubicBezTo>
                  <a:pt x="3625759" y="3852486"/>
                  <a:pt x="3638965" y="3943841"/>
                  <a:pt x="3616479" y="3951521"/>
                </a:cubicBezTo>
                <a:cubicBezTo>
                  <a:pt x="3607940" y="3994867"/>
                  <a:pt x="3614033" y="4040502"/>
                  <a:pt x="3595498" y="4074157"/>
                </a:cubicBezTo>
                <a:cubicBezTo>
                  <a:pt x="3597477" y="4078342"/>
                  <a:pt x="3598819" y="4082864"/>
                  <a:pt x="3599706" y="4087599"/>
                </a:cubicBezTo>
                <a:lnTo>
                  <a:pt x="3601103" y="4101515"/>
                </a:lnTo>
                <a:lnTo>
                  <a:pt x="3600274" y="4102849"/>
                </a:lnTo>
                <a:cubicBezTo>
                  <a:pt x="3598143" y="4109482"/>
                  <a:pt x="3598077" y="4114144"/>
                  <a:pt x="3598925" y="4117926"/>
                </a:cubicBezTo>
                <a:lnTo>
                  <a:pt x="3600630" y="4121966"/>
                </a:lnTo>
                <a:lnTo>
                  <a:pt x="3600331" y="4132543"/>
                </a:lnTo>
                <a:lnTo>
                  <a:pt x="3601432" y="4154003"/>
                </a:lnTo>
                <a:lnTo>
                  <a:pt x="3600054" y="4157433"/>
                </a:lnTo>
                <a:lnTo>
                  <a:pt x="3599248" y="4188888"/>
                </a:lnTo>
                <a:cubicBezTo>
                  <a:pt x="3598993" y="4188940"/>
                  <a:pt x="3598738" y="4188992"/>
                  <a:pt x="3598484" y="4189044"/>
                </a:cubicBezTo>
                <a:cubicBezTo>
                  <a:pt x="3596754" y="4190111"/>
                  <a:pt x="3595443" y="4192250"/>
                  <a:pt x="3594971" y="4196698"/>
                </a:cubicBezTo>
                <a:cubicBezTo>
                  <a:pt x="3584674" y="4185805"/>
                  <a:pt x="3590455" y="4197885"/>
                  <a:pt x="3589971" y="4211958"/>
                </a:cubicBezTo>
                <a:cubicBezTo>
                  <a:pt x="3573870" y="4198179"/>
                  <a:pt x="3579156" y="4240607"/>
                  <a:pt x="3569135" y="4243705"/>
                </a:cubicBezTo>
                <a:cubicBezTo>
                  <a:pt x="3569142" y="4254351"/>
                  <a:pt x="3568856" y="4265362"/>
                  <a:pt x="3568210" y="4276468"/>
                </a:cubicBezTo>
                <a:lnTo>
                  <a:pt x="3567613" y="4282925"/>
                </a:lnTo>
                <a:cubicBezTo>
                  <a:pt x="3567553" y="4282949"/>
                  <a:pt x="3567492" y="4282974"/>
                  <a:pt x="3567432" y="4282999"/>
                </a:cubicBezTo>
                <a:cubicBezTo>
                  <a:pt x="3566940" y="4284280"/>
                  <a:pt x="3566607" y="4286359"/>
                  <a:pt x="3566464" y="4289697"/>
                </a:cubicBezTo>
                <a:lnTo>
                  <a:pt x="3566526" y="4294698"/>
                </a:lnTo>
                <a:lnTo>
                  <a:pt x="3565367" y="4307225"/>
                </a:lnTo>
                <a:lnTo>
                  <a:pt x="3563841" y="4311164"/>
                </a:lnTo>
                <a:lnTo>
                  <a:pt x="3561610" y="4312189"/>
                </a:lnTo>
                <a:lnTo>
                  <a:pt x="3561734" y="4313408"/>
                </a:lnTo>
                <a:cubicBezTo>
                  <a:pt x="3564537" y="4323096"/>
                  <a:pt x="3569544" y="4327053"/>
                  <a:pt x="3553832" y="4334910"/>
                </a:cubicBezTo>
                <a:cubicBezTo>
                  <a:pt x="3557797" y="4356533"/>
                  <a:pt x="3548502" y="4358433"/>
                  <a:pt x="3542564" y="4385380"/>
                </a:cubicBezTo>
                <a:cubicBezTo>
                  <a:pt x="3547050" y="4398267"/>
                  <a:pt x="3544091" y="4407098"/>
                  <a:pt x="3538724" y="4415150"/>
                </a:cubicBezTo>
                <a:cubicBezTo>
                  <a:pt x="3538633" y="4442707"/>
                  <a:pt x="3529920" y="4465824"/>
                  <a:pt x="3525348" y="4495753"/>
                </a:cubicBezTo>
                <a:cubicBezTo>
                  <a:pt x="3529387" y="4530212"/>
                  <a:pt x="3514579" y="4543935"/>
                  <a:pt x="3509749" y="4575934"/>
                </a:cubicBezTo>
                <a:cubicBezTo>
                  <a:pt x="3519579" y="4606914"/>
                  <a:pt x="3496418" y="4596497"/>
                  <a:pt x="3489779" y="4611927"/>
                </a:cubicBezTo>
                <a:lnTo>
                  <a:pt x="3488856" y="4616508"/>
                </a:lnTo>
                <a:lnTo>
                  <a:pt x="3489486" y="4629163"/>
                </a:lnTo>
                <a:lnTo>
                  <a:pt x="3490242" y="4633947"/>
                </a:lnTo>
                <a:cubicBezTo>
                  <a:pt x="3490570" y="4637233"/>
                  <a:pt x="3490539" y="4639406"/>
                  <a:pt x="3490244" y="4640894"/>
                </a:cubicBezTo>
                <a:lnTo>
                  <a:pt x="3490078" y="4641059"/>
                </a:lnTo>
                <a:lnTo>
                  <a:pt x="3490403" y="4647582"/>
                </a:lnTo>
                <a:cubicBezTo>
                  <a:pt x="3491330" y="4658608"/>
                  <a:pt x="3492590" y="4669354"/>
                  <a:pt x="3494082" y="4679601"/>
                </a:cubicBezTo>
                <a:cubicBezTo>
                  <a:pt x="3484854" y="4687754"/>
                  <a:pt x="3495864" y="4725869"/>
                  <a:pt x="3478421" y="4720918"/>
                </a:cubicBezTo>
                <a:cubicBezTo>
                  <a:pt x="3479918" y="4734712"/>
                  <a:pt x="3487176" y="4743359"/>
                  <a:pt x="3475730" y="4738188"/>
                </a:cubicBezTo>
                <a:cubicBezTo>
                  <a:pt x="3475894" y="4742712"/>
                  <a:pt x="3474928" y="4745450"/>
                  <a:pt x="3473409" y="4747368"/>
                </a:cubicBezTo>
                <a:lnTo>
                  <a:pt x="3472696" y="4747913"/>
                </a:lnTo>
                <a:lnTo>
                  <a:pt x="3476304" y="4778609"/>
                </a:lnTo>
                <a:lnTo>
                  <a:pt x="3475454" y="4782623"/>
                </a:lnTo>
                <a:lnTo>
                  <a:pt x="3479507" y="4802712"/>
                </a:lnTo>
                <a:lnTo>
                  <a:pt x="3480695" y="4813049"/>
                </a:lnTo>
                <a:lnTo>
                  <a:pt x="3482902" y="4816057"/>
                </a:lnTo>
                <a:cubicBezTo>
                  <a:pt x="3484247" y="4819259"/>
                  <a:pt x="3484834" y="4823783"/>
                  <a:pt x="3483703" y="4831270"/>
                </a:cubicBezTo>
                <a:lnTo>
                  <a:pt x="3483090" y="4832984"/>
                </a:lnTo>
                <a:lnTo>
                  <a:pt x="3486378" y="4845654"/>
                </a:lnTo>
                <a:cubicBezTo>
                  <a:pt x="3487893" y="4849755"/>
                  <a:pt x="3489817" y="4853416"/>
                  <a:pt x="3492309" y="4856425"/>
                </a:cubicBezTo>
                <a:cubicBezTo>
                  <a:pt x="3479133" y="4898390"/>
                  <a:pt x="3491371" y="4939174"/>
                  <a:pt x="3489182" y="4985308"/>
                </a:cubicBezTo>
                <a:cubicBezTo>
                  <a:pt x="3492413" y="5037202"/>
                  <a:pt x="3496839" y="5073159"/>
                  <a:pt x="3498182" y="5107346"/>
                </a:cubicBezTo>
                <a:cubicBezTo>
                  <a:pt x="3500266" y="5123329"/>
                  <a:pt x="3506680" y="5240376"/>
                  <a:pt x="3499225" y="5231073"/>
                </a:cubicBezTo>
                <a:cubicBezTo>
                  <a:pt x="3515247" y="5280090"/>
                  <a:pt x="3497607" y="5309911"/>
                  <a:pt x="3504960" y="5364785"/>
                </a:cubicBezTo>
                <a:cubicBezTo>
                  <a:pt x="3487546" y="5393671"/>
                  <a:pt x="3503686" y="5378336"/>
                  <a:pt x="3500486" y="5409009"/>
                </a:cubicBezTo>
                <a:cubicBezTo>
                  <a:pt x="3516561" y="5401350"/>
                  <a:pt x="3491544" y="5446009"/>
                  <a:pt x="3509710" y="5448570"/>
                </a:cubicBezTo>
                <a:cubicBezTo>
                  <a:pt x="3508555" y="5454072"/>
                  <a:pt x="3506859" y="5459319"/>
                  <a:pt x="3505022" y="5464568"/>
                </a:cubicBezTo>
                <a:lnTo>
                  <a:pt x="3504070" y="5467320"/>
                </a:lnTo>
                <a:lnTo>
                  <a:pt x="3503399" y="5478483"/>
                </a:lnTo>
                <a:lnTo>
                  <a:pt x="3499281" y="5481443"/>
                </a:lnTo>
                <a:lnTo>
                  <a:pt x="3499047" y="5616712"/>
                </a:lnTo>
                <a:cubicBezTo>
                  <a:pt x="3502347" y="5628424"/>
                  <a:pt x="3503819" y="5666768"/>
                  <a:pt x="3498775" y="5675291"/>
                </a:cubicBezTo>
                <a:cubicBezTo>
                  <a:pt x="3497984" y="5683547"/>
                  <a:pt x="3500335" y="5692400"/>
                  <a:pt x="3494739" y="5697458"/>
                </a:cubicBezTo>
                <a:cubicBezTo>
                  <a:pt x="3492180" y="5715432"/>
                  <a:pt x="3486290" y="5756597"/>
                  <a:pt x="3483423" y="5783137"/>
                </a:cubicBezTo>
                <a:cubicBezTo>
                  <a:pt x="3491452" y="5796973"/>
                  <a:pt x="3477643" y="5819988"/>
                  <a:pt x="3477532" y="5856699"/>
                </a:cubicBezTo>
                <a:cubicBezTo>
                  <a:pt x="3486776" y="5871818"/>
                  <a:pt x="3477340" y="5881447"/>
                  <a:pt x="3490032" y="5910638"/>
                </a:cubicBezTo>
                <a:cubicBezTo>
                  <a:pt x="3488930" y="5911913"/>
                  <a:pt x="3487924" y="5913488"/>
                  <a:pt x="3487046" y="5915313"/>
                </a:cubicBezTo>
                <a:cubicBezTo>
                  <a:pt x="3481941" y="5925917"/>
                  <a:pt x="3482137" y="5942505"/>
                  <a:pt x="3487484" y="5952365"/>
                </a:cubicBezTo>
                <a:cubicBezTo>
                  <a:pt x="3504666" y="5999029"/>
                  <a:pt x="3505019" y="6042078"/>
                  <a:pt x="3509266" y="6082373"/>
                </a:cubicBezTo>
                <a:cubicBezTo>
                  <a:pt x="3512265" y="6128005"/>
                  <a:pt x="3492950" y="6098121"/>
                  <a:pt x="3509564" y="6154771"/>
                </a:cubicBezTo>
                <a:cubicBezTo>
                  <a:pt x="3503223" y="6161045"/>
                  <a:pt x="3503062" y="6168289"/>
                  <a:pt x="3506404" y="6180433"/>
                </a:cubicBezTo>
                <a:cubicBezTo>
                  <a:pt x="3507378" y="6202614"/>
                  <a:pt x="3491084" y="6201180"/>
                  <a:pt x="3501312" y="6223427"/>
                </a:cubicBezTo>
                <a:cubicBezTo>
                  <a:pt x="3492497" y="6219559"/>
                  <a:pt x="3498753" y="6265580"/>
                  <a:pt x="3489469" y="6255476"/>
                </a:cubicBezTo>
                <a:cubicBezTo>
                  <a:pt x="3481791" y="6270065"/>
                  <a:pt x="3495037" y="6276996"/>
                  <a:pt x="3488398" y="6291462"/>
                </a:cubicBezTo>
                <a:cubicBezTo>
                  <a:pt x="3487099" y="6307679"/>
                  <a:pt x="3497555" y="6282019"/>
                  <a:pt x="3498547" y="6299935"/>
                </a:cubicBezTo>
                <a:cubicBezTo>
                  <a:pt x="3498173" y="6321676"/>
                  <a:pt x="3514193" y="6321381"/>
                  <a:pt x="3494028" y="6338390"/>
                </a:cubicBezTo>
                <a:lnTo>
                  <a:pt x="3486030" y="6396716"/>
                </a:lnTo>
                <a:cubicBezTo>
                  <a:pt x="3491309" y="6409668"/>
                  <a:pt x="3488928" y="6420134"/>
                  <a:pt x="3484103" y="6430386"/>
                </a:cubicBezTo>
                <a:cubicBezTo>
                  <a:pt x="3485763" y="6460632"/>
                  <a:pt x="3478568" y="6488285"/>
                  <a:pt x="3475922" y="6522318"/>
                </a:cubicBezTo>
                <a:cubicBezTo>
                  <a:pt x="3482128" y="6559051"/>
                  <a:pt x="3468277" y="6578006"/>
                  <a:pt x="3465506" y="6614374"/>
                </a:cubicBezTo>
                <a:cubicBezTo>
                  <a:pt x="3478925" y="6650248"/>
                  <a:pt x="3446064" y="6638174"/>
                  <a:pt x="3446789" y="6668768"/>
                </a:cubicBezTo>
                <a:cubicBezTo>
                  <a:pt x="3458869" y="6718505"/>
                  <a:pt x="3435878" y="6667592"/>
                  <a:pt x="3439582" y="6744454"/>
                </a:cubicBezTo>
                <a:cubicBezTo>
                  <a:pt x="3441631" y="6748797"/>
                  <a:pt x="3439393" y="6758101"/>
                  <a:pt x="3436538" y="6757102"/>
                </a:cubicBezTo>
                <a:cubicBezTo>
                  <a:pt x="3437461" y="6773941"/>
                  <a:pt x="3420846" y="6822488"/>
                  <a:pt x="3424061" y="6846522"/>
                </a:cubicBezTo>
                <a:lnTo>
                  <a:pt x="3423032" y="6858000"/>
                </a:lnTo>
                <a:lnTo>
                  <a:pt x="0" y="6858000"/>
                </a:lnTo>
                <a:close/>
              </a:path>
            </a:pathLst>
          </a:custGeom>
        </p:spPr>
      </p:pic>
      <p:sp>
        <p:nvSpPr>
          <p:cNvPr id="3" name="Content Placeholder 2">
            <a:extLst>
              <a:ext uri="{FF2B5EF4-FFF2-40B4-BE49-F238E27FC236}">
                <a16:creationId xmlns:a16="http://schemas.microsoft.com/office/drawing/2014/main" id="{F8A5B8D3-63E4-B90B-CC5D-6E8C57561F05}"/>
              </a:ext>
            </a:extLst>
          </p:cNvPr>
          <p:cNvSpPr>
            <a:spLocks noGrp="1"/>
          </p:cNvSpPr>
          <p:nvPr>
            <p:ph idx="1"/>
          </p:nvPr>
        </p:nvSpPr>
        <p:spPr>
          <a:xfrm>
            <a:off x="4572001" y="1151464"/>
            <a:ext cx="6781800" cy="5096933"/>
          </a:xfrm>
        </p:spPr>
        <p:txBody>
          <a:bodyPr anchor="t">
            <a:noAutofit/>
          </a:bodyPr>
          <a:lstStyle/>
          <a:p>
            <a:r>
              <a:rPr lang="en-US" sz="2400" dirty="0">
                <a:latin typeface="Calibri" panose="020F0502020204030204" pitchFamily="34" charset="0"/>
                <a:cs typeface="Calibri" panose="020F0502020204030204" pitchFamily="34" charset="0"/>
              </a:rPr>
              <a:t>The IOT based IV bag monitoring system project is the effective system for monitoring IV fluid bags (saline bags) in hospitals . IV therapy is an essential part of patient care in healthcare facilities , and the safe and efficient delivery of IV fluids is crucial for patient recovery.</a:t>
            </a:r>
          </a:p>
          <a:p>
            <a:r>
              <a:rPr lang="en-US" sz="2400" dirty="0">
                <a:latin typeface="Calibri" panose="020F0502020204030204" pitchFamily="34" charset="0"/>
                <a:cs typeface="Calibri" panose="020F0502020204030204" pitchFamily="34" charset="0"/>
              </a:rPr>
              <a:t>The current manual systems can lead to errors, such as incorrect flow rates, insufficient or excessive fluid delivery, and delays in replacing empty bags. </a:t>
            </a:r>
            <a:r>
              <a:rPr lang="en-US" sz="2400" dirty="0" err="1">
                <a:latin typeface="Calibri" panose="020F0502020204030204" pitchFamily="34" charset="0"/>
                <a:cs typeface="Calibri" panose="020F0502020204030204" pitchFamily="34" charset="0"/>
              </a:rPr>
              <a:t>however,managing</a:t>
            </a:r>
            <a:r>
              <a:rPr lang="en-US" sz="2400" dirty="0">
                <a:latin typeface="Calibri" panose="020F0502020204030204" pitchFamily="34" charset="0"/>
                <a:cs typeface="Calibri" panose="020F0502020204030204" pitchFamily="34" charset="0"/>
              </a:rPr>
              <a:t> IV bags can be a challenging task for healthcare staff.</a:t>
            </a:r>
          </a:p>
          <a:p>
            <a:r>
              <a:rPr lang="en-US" sz="2400" dirty="0">
                <a:latin typeface="Calibri" panose="020F0502020204030204" pitchFamily="34" charset="0"/>
                <a:cs typeface="Calibri" panose="020F0502020204030204" pitchFamily="34" charset="0"/>
              </a:rPr>
              <a:t>The proposed solution is to develop a smart and efficient monitoring system for IV fluid bags using IOT technology.</a:t>
            </a:r>
          </a:p>
        </p:txBody>
      </p:sp>
    </p:spTree>
    <p:extLst>
      <p:ext uri="{BB962C8B-B14F-4D97-AF65-F5344CB8AC3E}">
        <p14:creationId xmlns:p14="http://schemas.microsoft.com/office/powerpoint/2010/main" val="34316360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C4D39C-C776-5DA2-C966-95961F52240E}"/>
              </a:ext>
            </a:extLst>
          </p:cNvPr>
          <p:cNvSpPr>
            <a:spLocks noGrp="1"/>
          </p:cNvSpPr>
          <p:nvPr>
            <p:ph type="title"/>
          </p:nvPr>
        </p:nvSpPr>
        <p:spPr>
          <a:xfrm>
            <a:off x="630936" y="639520"/>
            <a:ext cx="3429000" cy="1719072"/>
          </a:xfrm>
        </p:spPr>
        <p:txBody>
          <a:bodyPr anchor="b">
            <a:normAutofit/>
          </a:bodyPr>
          <a:lstStyle/>
          <a:p>
            <a:r>
              <a:rPr lang="en-US" sz="5400">
                <a:solidFill>
                  <a:srgbClr val="C00000"/>
                </a:solidFill>
              </a:rPr>
              <a:t>BLOCK DIAGRAM:</a:t>
            </a:r>
            <a:endParaRPr lang="en-US" sz="5400" dirty="0">
              <a:solidFill>
                <a:srgbClr val="C00000"/>
              </a:solidFill>
            </a:endParaRPr>
          </a:p>
        </p:txBody>
      </p:sp>
      <p:sp>
        <p:nvSpPr>
          <p:cNvPr id="14" name="sketch line">
            <a:extLst>
              <a:ext uri="{FF2B5EF4-FFF2-40B4-BE49-F238E27FC236}">
                <a16:creationId xmlns:a16="http://schemas.microsoft.com/office/drawing/2014/main" id="{6357EC4F-235E-4222-A36F-C7878ACE3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9EA76980-9ADF-9403-0269-27699115C353}"/>
              </a:ext>
            </a:extLst>
          </p:cNvPr>
          <p:cNvSpPr>
            <a:spLocks noGrp="1"/>
          </p:cNvSpPr>
          <p:nvPr>
            <p:ph idx="1"/>
          </p:nvPr>
        </p:nvSpPr>
        <p:spPr>
          <a:xfrm>
            <a:off x="630936" y="2807208"/>
            <a:ext cx="3429000" cy="3410712"/>
          </a:xfrm>
        </p:spPr>
        <p:txBody>
          <a:bodyPr anchor="t">
            <a:normAutofit fontScale="77500" lnSpcReduction="20000"/>
          </a:bodyPr>
          <a:lstStyle/>
          <a:p>
            <a:r>
              <a:rPr lang="en-US">
                <a:latin typeface="Calibri" panose="020F0502020204030204" pitchFamily="34" charset="0"/>
                <a:cs typeface="Calibri" panose="020F0502020204030204" pitchFamily="34" charset="0"/>
              </a:rPr>
              <a:t>This project basically has ardino has a main component and it is connected to a 16*2 LCD display thereby it is joined with 5kg load cell and a buzzer is which indicates the level of saline bag when it is decreasing and it is linked with the blynk server which shows percentage of saline bag using IOT. </a:t>
            </a:r>
            <a:endParaRPr lang="en-US" dirty="0">
              <a:latin typeface="Calibri" panose="020F0502020204030204" pitchFamily="34" charset="0"/>
              <a:cs typeface="Calibri" panose="020F0502020204030204" pitchFamily="34" charset="0"/>
            </a:endParaRPr>
          </a:p>
        </p:txBody>
      </p:sp>
      <p:pic>
        <p:nvPicPr>
          <p:cNvPr id="5" name="Content Placeholder 4" descr="A diagram of a device&#10;&#10;Description automatically generated">
            <a:extLst>
              <a:ext uri="{FF2B5EF4-FFF2-40B4-BE49-F238E27FC236}">
                <a16:creationId xmlns:a16="http://schemas.microsoft.com/office/drawing/2014/main" id="{1BC3611C-BA44-8ECB-0C77-83F1D67F2226}"/>
              </a:ext>
            </a:extLst>
          </p:cNvPr>
          <p:cNvPicPr>
            <a:picLocks noChangeAspect="1"/>
          </p:cNvPicPr>
          <p:nvPr/>
        </p:nvPicPr>
        <p:blipFill>
          <a:blip r:embed="rId3"/>
          <a:stretch>
            <a:fillRect/>
          </a:stretch>
        </p:blipFill>
        <p:spPr>
          <a:xfrm>
            <a:off x="6178302" y="1708170"/>
            <a:ext cx="3733769" cy="2987015"/>
          </a:xfrm>
          <a:prstGeom prst="rect">
            <a:avLst/>
          </a:prstGeom>
        </p:spPr>
      </p:pic>
    </p:spTree>
    <p:extLst>
      <p:ext uri="{BB962C8B-B14F-4D97-AF65-F5344CB8AC3E}">
        <p14:creationId xmlns:p14="http://schemas.microsoft.com/office/powerpoint/2010/main" val="11521498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D56E6-2074-1A49-DEFC-6FF3FB3F83E5}"/>
              </a:ext>
            </a:extLst>
          </p:cNvPr>
          <p:cNvSpPr>
            <a:spLocks noGrp="1"/>
          </p:cNvSpPr>
          <p:nvPr>
            <p:ph type="title"/>
          </p:nvPr>
        </p:nvSpPr>
        <p:spPr>
          <a:xfrm>
            <a:off x="453184" y="429860"/>
            <a:ext cx="10358341" cy="544652"/>
          </a:xfrm>
        </p:spPr>
        <p:txBody>
          <a:bodyPr>
            <a:normAutofit fontScale="90000"/>
          </a:bodyPr>
          <a:lstStyle/>
          <a:p>
            <a:r>
              <a:rPr lang="en-US" sz="3600" dirty="0">
                <a:solidFill>
                  <a:srgbClr val="C00000"/>
                </a:solidFill>
                <a:latin typeface="Calibri" panose="020F0502020204030204" pitchFamily="34" charset="0"/>
                <a:cs typeface="Calibri" panose="020F0502020204030204" pitchFamily="34" charset="0"/>
              </a:rPr>
              <a:t>List of Components Used:</a:t>
            </a:r>
          </a:p>
        </p:txBody>
      </p:sp>
      <p:pic>
        <p:nvPicPr>
          <p:cNvPr id="5" name="Content Placeholder 4" descr="A black circuit board with many different components&#10;&#10;Description automatically generated">
            <a:extLst>
              <a:ext uri="{FF2B5EF4-FFF2-40B4-BE49-F238E27FC236}">
                <a16:creationId xmlns:a16="http://schemas.microsoft.com/office/drawing/2014/main" id="{C9C4A991-BAEC-BAC6-DA80-4EA8A0F68C5A}"/>
              </a:ext>
            </a:extLst>
          </p:cNvPr>
          <p:cNvPicPr>
            <a:picLocks noGrp="1" noChangeAspect="1"/>
          </p:cNvPicPr>
          <p:nvPr>
            <p:ph idx="1"/>
          </p:nvPr>
        </p:nvPicPr>
        <p:blipFill>
          <a:blip r:embed="rId2"/>
          <a:stretch>
            <a:fillRect/>
          </a:stretch>
        </p:blipFill>
        <p:spPr>
          <a:xfrm>
            <a:off x="575734" y="1183196"/>
            <a:ext cx="2845062" cy="1915604"/>
          </a:xfrm>
        </p:spPr>
      </p:pic>
      <p:pic>
        <p:nvPicPr>
          <p:cNvPr id="8" name="Picture 7" descr="A close-up of a circuit board&#10;&#10;Description automatically generated">
            <a:extLst>
              <a:ext uri="{FF2B5EF4-FFF2-40B4-BE49-F238E27FC236}">
                <a16:creationId xmlns:a16="http://schemas.microsoft.com/office/drawing/2014/main" id="{62D58A4B-6711-8C4E-644F-560E7895B06F}"/>
              </a:ext>
            </a:extLst>
          </p:cNvPr>
          <p:cNvPicPr>
            <a:picLocks noChangeAspect="1"/>
          </p:cNvPicPr>
          <p:nvPr/>
        </p:nvPicPr>
        <p:blipFill>
          <a:blip r:embed="rId3"/>
          <a:stretch>
            <a:fillRect/>
          </a:stretch>
        </p:blipFill>
        <p:spPr>
          <a:xfrm>
            <a:off x="5118755" y="1214203"/>
            <a:ext cx="2226733" cy="1551190"/>
          </a:xfrm>
          <a:prstGeom prst="rect">
            <a:avLst/>
          </a:prstGeom>
        </p:spPr>
      </p:pic>
      <p:pic>
        <p:nvPicPr>
          <p:cNvPr id="11" name="Picture 10" descr="A black circular object with a white label&#10;&#10;Description automatically generated">
            <a:extLst>
              <a:ext uri="{FF2B5EF4-FFF2-40B4-BE49-F238E27FC236}">
                <a16:creationId xmlns:a16="http://schemas.microsoft.com/office/drawing/2014/main" id="{DD4C0F87-1B97-4DE8-3714-58697CD6E920}"/>
              </a:ext>
            </a:extLst>
          </p:cNvPr>
          <p:cNvPicPr>
            <a:picLocks noChangeAspect="1"/>
          </p:cNvPicPr>
          <p:nvPr/>
        </p:nvPicPr>
        <p:blipFill>
          <a:blip r:embed="rId4"/>
          <a:stretch>
            <a:fillRect/>
          </a:stretch>
        </p:blipFill>
        <p:spPr>
          <a:xfrm>
            <a:off x="9643621" y="1131216"/>
            <a:ext cx="1857720" cy="1711401"/>
          </a:xfrm>
          <a:prstGeom prst="rect">
            <a:avLst/>
          </a:prstGeom>
        </p:spPr>
      </p:pic>
      <p:pic>
        <p:nvPicPr>
          <p:cNvPr id="13" name="Picture 12" descr="A group of colorful wires&#10;&#10;Description automatically generated">
            <a:extLst>
              <a:ext uri="{FF2B5EF4-FFF2-40B4-BE49-F238E27FC236}">
                <a16:creationId xmlns:a16="http://schemas.microsoft.com/office/drawing/2014/main" id="{8E4DBCBD-3763-CBC6-0C6B-BCF3399877A2}"/>
              </a:ext>
            </a:extLst>
          </p:cNvPr>
          <p:cNvPicPr>
            <a:picLocks noChangeAspect="1"/>
          </p:cNvPicPr>
          <p:nvPr/>
        </p:nvPicPr>
        <p:blipFill>
          <a:blip r:embed="rId5"/>
          <a:stretch>
            <a:fillRect/>
          </a:stretch>
        </p:blipFill>
        <p:spPr>
          <a:xfrm>
            <a:off x="728135" y="4013808"/>
            <a:ext cx="2243978" cy="1968656"/>
          </a:xfrm>
          <a:prstGeom prst="rect">
            <a:avLst/>
          </a:prstGeom>
        </p:spPr>
      </p:pic>
      <p:pic>
        <p:nvPicPr>
          <p:cNvPr id="15" name="Picture 14" descr="A close-up of a project board&#10;&#10;Description automatically generated">
            <a:extLst>
              <a:ext uri="{FF2B5EF4-FFF2-40B4-BE49-F238E27FC236}">
                <a16:creationId xmlns:a16="http://schemas.microsoft.com/office/drawing/2014/main" id="{4EAAF17C-0A23-6016-DB72-B76A7278EA0A}"/>
              </a:ext>
            </a:extLst>
          </p:cNvPr>
          <p:cNvPicPr>
            <a:picLocks noChangeAspect="1"/>
          </p:cNvPicPr>
          <p:nvPr/>
        </p:nvPicPr>
        <p:blipFill>
          <a:blip r:embed="rId6"/>
          <a:stretch>
            <a:fillRect/>
          </a:stretch>
        </p:blipFill>
        <p:spPr>
          <a:xfrm>
            <a:off x="5118755" y="3691467"/>
            <a:ext cx="2382711" cy="2150533"/>
          </a:xfrm>
          <a:prstGeom prst="rect">
            <a:avLst/>
          </a:prstGeom>
        </p:spPr>
      </p:pic>
      <p:pic>
        <p:nvPicPr>
          <p:cNvPr id="17" name="Picture 16" descr="A green rectangular electronic device&#10;&#10;Description automatically generated">
            <a:extLst>
              <a:ext uri="{FF2B5EF4-FFF2-40B4-BE49-F238E27FC236}">
                <a16:creationId xmlns:a16="http://schemas.microsoft.com/office/drawing/2014/main" id="{3536B269-CBF8-6C3C-8278-AA2E688A8A2B}"/>
              </a:ext>
            </a:extLst>
          </p:cNvPr>
          <p:cNvPicPr>
            <a:picLocks noChangeAspect="1"/>
          </p:cNvPicPr>
          <p:nvPr/>
        </p:nvPicPr>
        <p:blipFill>
          <a:blip r:embed="rId7"/>
          <a:stretch>
            <a:fillRect/>
          </a:stretch>
        </p:blipFill>
        <p:spPr>
          <a:xfrm>
            <a:off x="9291541" y="3610877"/>
            <a:ext cx="2172325" cy="2015067"/>
          </a:xfrm>
          <a:prstGeom prst="rect">
            <a:avLst/>
          </a:prstGeom>
        </p:spPr>
      </p:pic>
      <p:sp>
        <p:nvSpPr>
          <p:cNvPr id="18" name="TextBox 17">
            <a:extLst>
              <a:ext uri="{FF2B5EF4-FFF2-40B4-BE49-F238E27FC236}">
                <a16:creationId xmlns:a16="http://schemas.microsoft.com/office/drawing/2014/main" id="{FD5A4ADC-6E2B-44AB-6C23-EF239A550C82}"/>
              </a:ext>
            </a:extLst>
          </p:cNvPr>
          <p:cNvSpPr txBox="1"/>
          <p:nvPr/>
        </p:nvSpPr>
        <p:spPr>
          <a:xfrm>
            <a:off x="734699" y="3094638"/>
            <a:ext cx="2584234" cy="461665"/>
          </a:xfrm>
          <a:prstGeom prst="rect">
            <a:avLst/>
          </a:prstGeom>
          <a:noFill/>
        </p:spPr>
        <p:txBody>
          <a:bodyPr wrap="none" rtlCol="0">
            <a:spAutoFit/>
          </a:bodyPr>
          <a:lstStyle/>
          <a:p>
            <a:r>
              <a:rPr lang="en-US" sz="2400" dirty="0" err="1">
                <a:latin typeface="Calibri" panose="020F0502020204030204" pitchFamily="34" charset="0"/>
                <a:cs typeface="Calibri" panose="020F0502020204030204" pitchFamily="34" charset="0"/>
              </a:rPr>
              <a:t>Ardino</a:t>
            </a:r>
            <a:r>
              <a:rPr lang="en-US" sz="2400" dirty="0">
                <a:latin typeface="Calibri" panose="020F0502020204030204" pitchFamily="34" charset="0"/>
                <a:cs typeface="Calibri" panose="020F0502020204030204" pitchFamily="34" charset="0"/>
              </a:rPr>
              <a:t> Atmega328 </a:t>
            </a:r>
          </a:p>
        </p:txBody>
      </p:sp>
      <p:sp>
        <p:nvSpPr>
          <p:cNvPr id="19" name="TextBox 18">
            <a:extLst>
              <a:ext uri="{FF2B5EF4-FFF2-40B4-BE49-F238E27FC236}">
                <a16:creationId xmlns:a16="http://schemas.microsoft.com/office/drawing/2014/main" id="{78D97AAA-EB6E-BB5D-239C-54DC505D2F83}"/>
              </a:ext>
            </a:extLst>
          </p:cNvPr>
          <p:cNvSpPr txBox="1"/>
          <p:nvPr/>
        </p:nvSpPr>
        <p:spPr>
          <a:xfrm>
            <a:off x="931333" y="5982464"/>
            <a:ext cx="1903855" cy="461665"/>
          </a:xfrm>
          <a:prstGeom prst="rect">
            <a:avLst/>
          </a:prstGeom>
          <a:noFill/>
        </p:spPr>
        <p:txBody>
          <a:bodyPr wrap="none" rtlCol="0">
            <a:spAutoFit/>
          </a:bodyPr>
          <a:lstStyle/>
          <a:p>
            <a:r>
              <a:rPr lang="en-US" sz="2400" dirty="0">
                <a:latin typeface="Calibri" panose="020F0502020204030204" pitchFamily="34" charset="0"/>
                <a:cs typeface="Calibri" panose="020F0502020204030204" pitchFamily="34" charset="0"/>
              </a:rPr>
              <a:t>Jumper Wires</a:t>
            </a:r>
          </a:p>
        </p:txBody>
      </p:sp>
      <p:sp>
        <p:nvSpPr>
          <p:cNvPr id="20" name="TextBox 19">
            <a:extLst>
              <a:ext uri="{FF2B5EF4-FFF2-40B4-BE49-F238E27FC236}">
                <a16:creationId xmlns:a16="http://schemas.microsoft.com/office/drawing/2014/main" id="{000617E7-F2CD-F527-27F2-B3973E8A8D0F}"/>
              </a:ext>
            </a:extLst>
          </p:cNvPr>
          <p:cNvSpPr txBox="1"/>
          <p:nvPr/>
        </p:nvSpPr>
        <p:spPr>
          <a:xfrm>
            <a:off x="5520267" y="3094637"/>
            <a:ext cx="1818126" cy="461665"/>
          </a:xfrm>
          <a:prstGeom prst="rect">
            <a:avLst/>
          </a:prstGeom>
          <a:noFill/>
        </p:spPr>
        <p:txBody>
          <a:bodyPr wrap="none" rtlCol="0">
            <a:spAutoFit/>
          </a:bodyPr>
          <a:lstStyle/>
          <a:p>
            <a:r>
              <a:rPr lang="en-US" sz="2400" dirty="0">
                <a:latin typeface="Calibri" panose="020F0502020204030204" pitchFamily="34" charset="0"/>
                <a:cs typeface="Calibri" panose="020F0502020204030204" pitchFamily="34" charset="0"/>
              </a:rPr>
              <a:t>5 Kg load cell</a:t>
            </a:r>
          </a:p>
        </p:txBody>
      </p:sp>
      <p:sp>
        <p:nvSpPr>
          <p:cNvPr id="21" name="TextBox 20">
            <a:extLst>
              <a:ext uri="{FF2B5EF4-FFF2-40B4-BE49-F238E27FC236}">
                <a16:creationId xmlns:a16="http://schemas.microsoft.com/office/drawing/2014/main" id="{841F2405-9092-1BBA-2075-28A0326F9369}"/>
              </a:ext>
            </a:extLst>
          </p:cNvPr>
          <p:cNvSpPr txBox="1"/>
          <p:nvPr/>
        </p:nvSpPr>
        <p:spPr>
          <a:xfrm>
            <a:off x="9017683" y="3039674"/>
            <a:ext cx="2720040" cy="461665"/>
          </a:xfrm>
          <a:prstGeom prst="rect">
            <a:avLst/>
          </a:prstGeom>
          <a:noFill/>
        </p:spPr>
        <p:txBody>
          <a:bodyPr wrap="none" rtlCol="0">
            <a:spAutoFit/>
          </a:bodyPr>
          <a:lstStyle/>
          <a:p>
            <a:r>
              <a:rPr lang="en-US" sz="2400" dirty="0">
                <a:latin typeface="Calibri" panose="020F0502020204030204" pitchFamily="34" charset="0"/>
                <a:cs typeface="Calibri" panose="020F0502020204030204" pitchFamily="34" charset="0"/>
              </a:rPr>
              <a:t>5 V Magnetic Buzzer</a:t>
            </a:r>
          </a:p>
        </p:txBody>
      </p:sp>
      <p:sp>
        <p:nvSpPr>
          <p:cNvPr id="22" name="TextBox 21">
            <a:extLst>
              <a:ext uri="{FF2B5EF4-FFF2-40B4-BE49-F238E27FC236}">
                <a16:creationId xmlns:a16="http://schemas.microsoft.com/office/drawing/2014/main" id="{DC418F0B-C12C-F3B2-1C04-B51B6F9B6914}"/>
              </a:ext>
            </a:extLst>
          </p:cNvPr>
          <p:cNvSpPr txBox="1"/>
          <p:nvPr/>
        </p:nvSpPr>
        <p:spPr>
          <a:xfrm>
            <a:off x="5231948" y="5982464"/>
            <a:ext cx="1728102" cy="461665"/>
          </a:xfrm>
          <a:prstGeom prst="rect">
            <a:avLst/>
          </a:prstGeom>
          <a:noFill/>
        </p:spPr>
        <p:txBody>
          <a:bodyPr wrap="none" rtlCol="0">
            <a:spAutoFit/>
          </a:bodyPr>
          <a:lstStyle/>
          <a:p>
            <a:r>
              <a:rPr lang="en-US" sz="2400" dirty="0">
                <a:latin typeface="Calibri" panose="020F0502020204030204" pitchFamily="34" charset="0"/>
                <a:cs typeface="Calibri" panose="020F0502020204030204" pitchFamily="34" charset="0"/>
              </a:rPr>
              <a:t>Bread Board</a:t>
            </a:r>
          </a:p>
        </p:txBody>
      </p:sp>
      <p:sp>
        <p:nvSpPr>
          <p:cNvPr id="24" name="TextBox 23">
            <a:extLst>
              <a:ext uri="{FF2B5EF4-FFF2-40B4-BE49-F238E27FC236}">
                <a16:creationId xmlns:a16="http://schemas.microsoft.com/office/drawing/2014/main" id="{B7019067-52DF-A2C7-EC62-91DB531B690A}"/>
              </a:ext>
            </a:extLst>
          </p:cNvPr>
          <p:cNvSpPr txBox="1"/>
          <p:nvPr/>
        </p:nvSpPr>
        <p:spPr>
          <a:xfrm>
            <a:off x="9219886" y="5842000"/>
            <a:ext cx="2315634" cy="461665"/>
          </a:xfrm>
          <a:prstGeom prst="rect">
            <a:avLst/>
          </a:prstGeom>
          <a:noFill/>
        </p:spPr>
        <p:txBody>
          <a:bodyPr wrap="none" rtlCol="0">
            <a:spAutoFit/>
          </a:bodyPr>
          <a:lstStyle/>
          <a:p>
            <a:r>
              <a:rPr lang="en-US" sz="2400" dirty="0">
                <a:latin typeface="Calibri" panose="020F0502020204030204" pitchFamily="34" charset="0"/>
                <a:cs typeface="Calibri" panose="020F0502020204030204" pitchFamily="34" charset="0"/>
              </a:rPr>
              <a:t>16*2 LCD Display</a:t>
            </a:r>
          </a:p>
        </p:txBody>
      </p:sp>
    </p:spTree>
    <p:extLst>
      <p:ext uri="{BB962C8B-B14F-4D97-AF65-F5344CB8AC3E}">
        <p14:creationId xmlns:p14="http://schemas.microsoft.com/office/powerpoint/2010/main" val="3938849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695DE-F525-4E89-A3CA-60A09782FC14}"/>
              </a:ext>
            </a:extLst>
          </p:cNvPr>
          <p:cNvSpPr>
            <a:spLocks noGrp="1"/>
          </p:cNvSpPr>
          <p:nvPr>
            <p:ph type="title"/>
          </p:nvPr>
        </p:nvSpPr>
        <p:spPr/>
        <p:txBody>
          <a:bodyPr/>
          <a:lstStyle/>
          <a:p>
            <a:endParaRPr lang="en-US"/>
          </a:p>
        </p:txBody>
      </p:sp>
      <p:graphicFrame>
        <p:nvGraphicFramePr>
          <p:cNvPr id="4" name="Content Placeholder 3">
            <a:extLst>
              <a:ext uri="{FF2B5EF4-FFF2-40B4-BE49-F238E27FC236}">
                <a16:creationId xmlns:a16="http://schemas.microsoft.com/office/drawing/2014/main" id="{95BCAA23-67A9-400A-9AB8-9A5D68CBDA28}"/>
              </a:ext>
            </a:extLst>
          </p:cNvPr>
          <p:cNvGraphicFramePr>
            <a:graphicFrameLocks noGrp="1"/>
          </p:cNvGraphicFramePr>
          <p:nvPr>
            <p:ph idx="1"/>
            <p:extLst>
              <p:ext uri="{D42A27DB-BD31-4B8C-83A1-F6EECF244321}">
                <p14:modId xmlns:p14="http://schemas.microsoft.com/office/powerpoint/2010/main" val="3634359229"/>
              </p:ext>
            </p:extLst>
          </p:nvPr>
        </p:nvGraphicFramePr>
        <p:xfrm>
          <a:off x="0" y="1"/>
          <a:ext cx="12192000" cy="7274559"/>
        </p:xfrm>
        <a:graphic>
          <a:graphicData uri="http://schemas.openxmlformats.org/drawingml/2006/table">
            <a:tbl>
              <a:tblPr firstRow="1" bandRow="1">
                <a:tableStyleId>{21E4AEA4-8DFA-4A89-87EB-49C32662AFE0}</a:tableStyleId>
              </a:tblPr>
              <a:tblGrid>
                <a:gridCol w="6129867">
                  <a:extLst>
                    <a:ext uri="{9D8B030D-6E8A-4147-A177-3AD203B41FA5}">
                      <a16:colId xmlns:a16="http://schemas.microsoft.com/office/drawing/2014/main" val="2819028453"/>
                    </a:ext>
                  </a:extLst>
                </a:gridCol>
                <a:gridCol w="6062133">
                  <a:extLst>
                    <a:ext uri="{9D8B030D-6E8A-4147-A177-3AD203B41FA5}">
                      <a16:colId xmlns:a16="http://schemas.microsoft.com/office/drawing/2014/main" val="953973759"/>
                    </a:ext>
                  </a:extLst>
                </a:gridCol>
              </a:tblGrid>
              <a:tr h="1117599">
                <a:tc>
                  <a:txBody>
                    <a:bodyPr/>
                    <a:lstStyle/>
                    <a:p>
                      <a:r>
                        <a:rPr lang="en-US" sz="4800" dirty="0">
                          <a:latin typeface="Calibri" panose="020F0502020204030204" pitchFamily="34" charset="0"/>
                          <a:cs typeface="Calibri" panose="020F0502020204030204" pitchFamily="34" charset="0"/>
                        </a:rPr>
                        <a:t>Olden Existing System </a:t>
                      </a:r>
                    </a:p>
                  </a:txBody>
                  <a:tcPr/>
                </a:tc>
                <a:tc>
                  <a:txBody>
                    <a:bodyPr/>
                    <a:lstStyle/>
                    <a:p>
                      <a:r>
                        <a:rPr lang="en-US" sz="4400" dirty="0"/>
                        <a:t>IOT Based Project</a:t>
                      </a:r>
                    </a:p>
                  </a:txBody>
                  <a:tcPr/>
                </a:tc>
                <a:extLst>
                  <a:ext uri="{0D108BD9-81ED-4DB2-BD59-A6C34878D82A}">
                    <a16:rowId xmlns:a16="http://schemas.microsoft.com/office/drawing/2014/main" val="940169764"/>
                  </a:ext>
                </a:extLst>
              </a:tr>
              <a:tr h="2286000">
                <a:tc>
                  <a:txBody>
                    <a:bodyPr/>
                    <a:lstStyle/>
                    <a:p>
                      <a:pPr marL="457200" indent="-457200">
                        <a:buFont typeface="Arial" panose="020B0604020202020204" pitchFamily="34" charset="0"/>
                        <a:buChar char="•"/>
                      </a:pPr>
                      <a:r>
                        <a:rPr lang="en-US" sz="2800" dirty="0"/>
                        <a:t>Accidents related to the administration of intravenous(IV) </a:t>
                      </a:r>
                      <a:r>
                        <a:rPr lang="en-US" sz="2800" dirty="0" err="1"/>
                        <a:t>medication,such</a:t>
                      </a:r>
                      <a:r>
                        <a:rPr lang="en-US" sz="2800" dirty="0"/>
                        <a:t> as drug overdose/</a:t>
                      </a:r>
                      <a:r>
                        <a:rPr lang="en-US" sz="2800" dirty="0" err="1"/>
                        <a:t>underdose,drug</a:t>
                      </a:r>
                      <a:r>
                        <a:rPr lang="en-US" sz="2800" dirty="0"/>
                        <a:t>/patient mis-</a:t>
                      </a:r>
                      <a:r>
                        <a:rPr lang="en-US" sz="2800" dirty="0" err="1"/>
                        <a:t>indentification,and</a:t>
                      </a:r>
                      <a:r>
                        <a:rPr lang="en-US" sz="2800" dirty="0"/>
                        <a:t> delayed bag </a:t>
                      </a:r>
                      <a:r>
                        <a:rPr lang="en-US" sz="2800" dirty="0" err="1"/>
                        <a:t>exchange,occur</a:t>
                      </a:r>
                      <a:r>
                        <a:rPr lang="en-US" sz="2800" dirty="0"/>
                        <a:t> consistently in clinical fields.</a:t>
                      </a:r>
                    </a:p>
                  </a:txBody>
                  <a:tcPr/>
                </a:tc>
                <a:tc>
                  <a:txBody>
                    <a:bodyPr/>
                    <a:lstStyle/>
                    <a:p>
                      <a:pPr marL="457200" indent="-457200">
                        <a:buFont typeface="Arial" panose="020B0604020202020204" pitchFamily="34" charset="0"/>
                        <a:buChar char="•"/>
                      </a:pPr>
                      <a:r>
                        <a:rPr lang="en-US" sz="2800" dirty="0">
                          <a:latin typeface="Calibri" panose="020F0502020204030204" pitchFamily="34" charset="0"/>
                          <a:cs typeface="Calibri" panose="020F0502020204030204" pitchFamily="34" charset="0"/>
                        </a:rPr>
                        <a:t>In this study, we proposed a smart IV pole that can monitor the infusion status of IV medications.</a:t>
                      </a:r>
                    </a:p>
                    <a:p>
                      <a:pPr marL="457200" indent="-457200" algn="l">
                        <a:buFont typeface="Arial" panose="020B0604020202020204" pitchFamily="34" charset="0"/>
                        <a:buChar char="•"/>
                      </a:pPr>
                      <a:r>
                        <a:rPr lang="en-US" sz="2800" dirty="0">
                          <a:latin typeface="Calibri" panose="020F0502020204030204" pitchFamily="34" charset="0"/>
                          <a:cs typeface="Calibri" panose="020F0502020204030204" pitchFamily="34" charset="0"/>
                        </a:rPr>
                        <a:t> With </a:t>
                      </a:r>
                      <a:r>
                        <a:rPr lang="en-US" sz="2800" dirty="0" err="1">
                          <a:latin typeface="Calibri" panose="020F0502020204030204" pitchFamily="34" charset="0"/>
                          <a:cs typeface="Calibri" panose="020F0502020204030204" pitchFamily="34" charset="0"/>
                        </a:rPr>
                        <a:t>IOT,data</a:t>
                      </a:r>
                      <a:r>
                        <a:rPr lang="en-US" sz="2800" dirty="0">
                          <a:latin typeface="Calibri" panose="020F0502020204030204" pitchFamily="34" charset="0"/>
                          <a:cs typeface="Calibri" panose="020F0502020204030204" pitchFamily="34" charset="0"/>
                        </a:rPr>
                        <a:t> is transferable over a network without requiring human-to-human-to-computer interactions. </a:t>
                      </a:r>
                    </a:p>
                  </a:txBody>
                  <a:tcPr/>
                </a:tc>
                <a:extLst>
                  <a:ext uri="{0D108BD9-81ED-4DB2-BD59-A6C34878D82A}">
                    <a16:rowId xmlns:a16="http://schemas.microsoft.com/office/drawing/2014/main" val="1908504590"/>
                  </a:ext>
                </a:extLst>
              </a:tr>
              <a:tr h="2286000">
                <a:tc>
                  <a:txBody>
                    <a:bodyPr/>
                    <a:lstStyle/>
                    <a:p>
                      <a:pPr marL="285750" indent="-285750">
                        <a:buFont typeface="Arial" panose="020B0604020202020204" pitchFamily="34" charset="0"/>
                        <a:buChar char="•"/>
                      </a:pPr>
                      <a:r>
                        <a:rPr lang="en-US" sz="2800" dirty="0">
                          <a:latin typeface="Calibri" panose="020F0502020204030204" pitchFamily="34" charset="0"/>
                          <a:cs typeface="Calibri" panose="020F0502020204030204" pitchFamily="34" charset="0"/>
                        </a:rPr>
                        <a:t>Several previous studies have suggested various contact-sensing and image-processing </a:t>
                      </a:r>
                      <a:r>
                        <a:rPr lang="en-US" sz="2800" dirty="0" err="1">
                          <a:latin typeface="Calibri" panose="020F0502020204030204" pitchFamily="34" charset="0"/>
                          <a:cs typeface="Calibri" panose="020F0502020204030204" pitchFamily="34" charset="0"/>
                        </a:rPr>
                        <a:t>methodologies;however,most</a:t>
                      </a:r>
                      <a:r>
                        <a:rPr lang="en-US" sz="2800" dirty="0">
                          <a:latin typeface="Calibri" panose="020F0502020204030204" pitchFamily="34" charset="0"/>
                          <a:cs typeface="Calibri" panose="020F0502020204030204" pitchFamily="34" charset="0"/>
                        </a:rPr>
                        <a:t> of them can increase the workload of nursing staffs during long-</a:t>
                      </a:r>
                      <a:r>
                        <a:rPr lang="en-US" sz="2800" dirty="0" err="1">
                          <a:latin typeface="Calibri" panose="020F0502020204030204" pitchFamily="34" charset="0"/>
                          <a:cs typeface="Calibri" panose="020F0502020204030204" pitchFamily="34" charset="0"/>
                        </a:rPr>
                        <a:t>term,continuous</a:t>
                      </a:r>
                      <a:r>
                        <a:rPr lang="en-US" sz="2800" dirty="0">
                          <a:latin typeface="Calibri" panose="020F0502020204030204" pitchFamily="34" charset="0"/>
                          <a:cs typeface="Calibri" panose="020F0502020204030204" pitchFamily="34" charset="0"/>
                        </a:rPr>
                        <a:t> monitoring.</a:t>
                      </a:r>
                    </a:p>
                  </a:txBody>
                  <a:tcPr/>
                </a:tc>
                <a:tc>
                  <a:txBody>
                    <a:bodyPr/>
                    <a:lstStyle/>
                    <a:p>
                      <a:pPr marL="285750" indent="-285750">
                        <a:buFont typeface="Arial" panose="020B0604020202020204" pitchFamily="34" charset="0"/>
                        <a:buChar char="•"/>
                      </a:pPr>
                      <a:r>
                        <a:rPr lang="en-US" sz="2800" dirty="0">
                          <a:latin typeface="Calibri" panose="020F0502020204030204" pitchFamily="34" charset="0"/>
                          <a:cs typeface="Calibri" panose="020F0502020204030204" pitchFamily="34" charset="0"/>
                        </a:rPr>
                        <a:t>So to </a:t>
                      </a:r>
                      <a:r>
                        <a:rPr lang="en-US" sz="2800" dirty="0" err="1">
                          <a:latin typeface="Calibri" panose="020F0502020204030204" pitchFamily="34" charset="0"/>
                          <a:cs typeface="Calibri" panose="020F0502020204030204" pitchFamily="34" charset="0"/>
                        </a:rPr>
                        <a:t>summarise,an</a:t>
                      </a:r>
                      <a:r>
                        <a:rPr lang="en-US" sz="2800" dirty="0">
                          <a:latin typeface="Calibri" panose="020F0502020204030204" pitchFamily="34" charset="0"/>
                          <a:cs typeface="Calibri" panose="020F0502020204030204" pitchFamily="34" charset="0"/>
                        </a:rPr>
                        <a:t> IOT network is a closed-loop mesh of </a:t>
                      </a:r>
                      <a:r>
                        <a:rPr lang="en-US" sz="2800" dirty="0" err="1">
                          <a:latin typeface="Calibri" panose="020F0502020204030204" pitchFamily="34" charset="0"/>
                          <a:cs typeface="Calibri" panose="020F0502020204030204" pitchFamily="34" charset="0"/>
                        </a:rPr>
                        <a:t>automously</a:t>
                      </a:r>
                      <a:r>
                        <a:rPr lang="en-US" sz="2800" dirty="0">
                          <a:latin typeface="Calibri" panose="020F0502020204030204" pitchFamily="34" charset="0"/>
                          <a:cs typeface="Calibri" panose="020F0502020204030204" pitchFamily="34" charset="0"/>
                        </a:rPr>
                        <a:t> operating devices which can communicate with each other when </a:t>
                      </a:r>
                      <a:r>
                        <a:rPr lang="en-US" sz="2800" dirty="0" err="1">
                          <a:latin typeface="Calibri" panose="020F0502020204030204" pitchFamily="34" charset="0"/>
                          <a:cs typeface="Calibri" panose="020F0502020204030204" pitchFamily="34" charset="0"/>
                        </a:rPr>
                        <a:t>required,while</a:t>
                      </a:r>
                      <a:r>
                        <a:rPr lang="en-US" sz="2800" dirty="0">
                          <a:latin typeface="Calibri" panose="020F0502020204030204" pitchFamily="34" charset="0"/>
                          <a:cs typeface="Calibri" panose="020F0502020204030204" pitchFamily="34" charset="0"/>
                        </a:rPr>
                        <a:t> regular networks rely on readiness to connect with an external system.</a:t>
                      </a:r>
                    </a:p>
                  </a:txBody>
                  <a:tcPr/>
                </a:tc>
                <a:extLst>
                  <a:ext uri="{0D108BD9-81ED-4DB2-BD59-A6C34878D82A}">
                    <a16:rowId xmlns:a16="http://schemas.microsoft.com/office/drawing/2014/main" val="626865774"/>
                  </a:ext>
                </a:extLst>
              </a:tr>
            </a:tbl>
          </a:graphicData>
        </a:graphic>
      </p:graphicFrame>
    </p:spTree>
    <p:extLst>
      <p:ext uri="{BB962C8B-B14F-4D97-AF65-F5344CB8AC3E}">
        <p14:creationId xmlns:p14="http://schemas.microsoft.com/office/powerpoint/2010/main" val="2707732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Light bulb on yellow background with sketched light beams and cord">
            <a:extLst>
              <a:ext uri="{FF2B5EF4-FFF2-40B4-BE49-F238E27FC236}">
                <a16:creationId xmlns:a16="http://schemas.microsoft.com/office/drawing/2014/main" id="{360C7CD9-DC2F-A68E-F9BD-69CD03BE4BA1}"/>
              </a:ext>
            </a:extLst>
          </p:cNvPr>
          <p:cNvPicPr>
            <a:picLocks noChangeAspect="1"/>
          </p:cNvPicPr>
          <p:nvPr/>
        </p:nvPicPr>
        <p:blipFill rotWithShape="1">
          <a:blip r:embed="rId2"/>
          <a:srcRect l="13286"/>
          <a:stretch/>
        </p:blipFill>
        <p:spPr>
          <a:xfrm>
            <a:off x="2522356" y="10"/>
            <a:ext cx="9669642" cy="6857990"/>
          </a:xfrm>
          <a:prstGeom prst="rect">
            <a:avLst/>
          </a:prstGeom>
        </p:spPr>
      </p:pic>
      <p:sp>
        <p:nvSpPr>
          <p:cNvPr id="23" name="Rectangle 22">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5E61AB6-6321-1D5F-A615-1DFE0786843C}"/>
              </a:ext>
            </a:extLst>
          </p:cNvPr>
          <p:cNvSpPr>
            <a:spLocks noGrp="1"/>
          </p:cNvSpPr>
          <p:nvPr>
            <p:ph type="title"/>
          </p:nvPr>
        </p:nvSpPr>
        <p:spPr>
          <a:xfrm>
            <a:off x="838200" y="365125"/>
            <a:ext cx="3822189" cy="1899912"/>
          </a:xfrm>
        </p:spPr>
        <p:txBody>
          <a:bodyPr>
            <a:normAutofit/>
          </a:bodyPr>
          <a:lstStyle/>
          <a:p>
            <a:r>
              <a:rPr lang="en-US" sz="4000">
                <a:latin typeface="Calibri" panose="020F0502020204030204" pitchFamily="34" charset="0"/>
                <a:cs typeface="Calibri" panose="020F0502020204030204" pitchFamily="34" charset="0"/>
              </a:rPr>
              <a:t>Advantages:</a:t>
            </a:r>
          </a:p>
        </p:txBody>
      </p:sp>
      <p:sp>
        <p:nvSpPr>
          <p:cNvPr id="3" name="Content Placeholder 2">
            <a:extLst>
              <a:ext uri="{FF2B5EF4-FFF2-40B4-BE49-F238E27FC236}">
                <a16:creationId xmlns:a16="http://schemas.microsoft.com/office/drawing/2014/main" id="{A9F07B0B-704A-D598-A8AE-8C9EF2DD03F9}"/>
              </a:ext>
            </a:extLst>
          </p:cNvPr>
          <p:cNvSpPr>
            <a:spLocks noGrp="1"/>
          </p:cNvSpPr>
          <p:nvPr>
            <p:ph idx="1"/>
          </p:nvPr>
        </p:nvSpPr>
        <p:spPr>
          <a:xfrm>
            <a:off x="827988" y="1800519"/>
            <a:ext cx="5855616" cy="4348163"/>
          </a:xfrm>
        </p:spPr>
        <p:txBody>
          <a:bodyPr>
            <a:normAutofit fontScale="77500" lnSpcReduction="20000"/>
          </a:bodyPr>
          <a:lstStyle/>
          <a:p>
            <a:pPr>
              <a:lnSpc>
                <a:spcPct val="170000"/>
              </a:lnSpc>
              <a:buFont typeface="Wingdings" pitchFamily="2" charset="2"/>
              <a:buChar char="ü"/>
            </a:pPr>
            <a:r>
              <a:rPr lang="en-US" dirty="0">
                <a:latin typeface="Calibri" panose="020F0502020204030204" pitchFamily="34" charset="0"/>
                <a:cs typeface="Calibri" panose="020F0502020204030204" pitchFamily="34" charset="0"/>
              </a:rPr>
              <a:t>Improved operational efficiency.</a:t>
            </a:r>
          </a:p>
          <a:p>
            <a:pPr>
              <a:lnSpc>
                <a:spcPct val="170000"/>
              </a:lnSpc>
              <a:buFont typeface="Wingdings" pitchFamily="2" charset="2"/>
              <a:buChar char="ü"/>
            </a:pPr>
            <a:r>
              <a:rPr lang="en-US" dirty="0">
                <a:latin typeface="Calibri" panose="020F0502020204030204" pitchFamily="34" charset="0"/>
                <a:cs typeface="Calibri" panose="020F0502020204030204" pitchFamily="34" charset="0"/>
              </a:rPr>
              <a:t>Data-driven insights for quick decision-making.</a:t>
            </a:r>
          </a:p>
          <a:p>
            <a:pPr>
              <a:lnSpc>
                <a:spcPct val="170000"/>
              </a:lnSpc>
              <a:buFont typeface="Wingdings" pitchFamily="2" charset="2"/>
              <a:buChar char="ü"/>
            </a:pPr>
            <a:r>
              <a:rPr lang="en-US" dirty="0">
                <a:latin typeface="Calibri" panose="020F0502020204030204" pitchFamily="34" charset="0"/>
                <a:cs typeface="Calibri" panose="020F0502020204030204" pitchFamily="34" charset="0"/>
              </a:rPr>
              <a:t>Real-time assert/resource visibility.</a:t>
            </a:r>
          </a:p>
          <a:p>
            <a:pPr>
              <a:lnSpc>
                <a:spcPct val="170000"/>
              </a:lnSpc>
              <a:buFont typeface="Wingdings" pitchFamily="2" charset="2"/>
              <a:buChar char="ü"/>
            </a:pPr>
            <a:r>
              <a:rPr lang="en-US" dirty="0">
                <a:latin typeface="Calibri" panose="020F0502020204030204" pitchFamily="34" charset="0"/>
                <a:cs typeface="Calibri" panose="020F0502020204030204" pitchFamily="34" charset="0"/>
              </a:rPr>
              <a:t>End-to-end ,remote monitoring and management of asserts/resources.</a:t>
            </a:r>
          </a:p>
          <a:p>
            <a:pPr>
              <a:lnSpc>
                <a:spcPct val="170000"/>
              </a:lnSpc>
              <a:buFont typeface="Wingdings" pitchFamily="2" charset="2"/>
              <a:buChar char="ü"/>
            </a:pPr>
            <a:r>
              <a:rPr lang="en-US" dirty="0">
                <a:latin typeface="Calibri" panose="020F0502020204030204" pitchFamily="34" charset="0"/>
                <a:cs typeface="Calibri" panose="020F0502020204030204" pitchFamily="34" charset="0"/>
              </a:rPr>
              <a:t> Real-time, predictive and prescriptive insights.</a:t>
            </a:r>
            <a:r>
              <a:rPr lang="en-US" sz="2000" dirty="0">
                <a:latin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7196045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Graph on document with pen">
            <a:extLst>
              <a:ext uri="{FF2B5EF4-FFF2-40B4-BE49-F238E27FC236}">
                <a16:creationId xmlns:a16="http://schemas.microsoft.com/office/drawing/2014/main" id="{9BDF0BA5-2DA7-DB5F-58F2-D85AEFE74187}"/>
              </a:ext>
            </a:extLst>
          </p:cNvPr>
          <p:cNvPicPr>
            <a:picLocks noChangeAspect="1"/>
          </p:cNvPicPr>
          <p:nvPr/>
        </p:nvPicPr>
        <p:blipFill rotWithShape="1">
          <a:blip r:embed="rId2"/>
          <a:srcRect l="5884" r="-1" b="-1"/>
          <a:stretch/>
        </p:blipFill>
        <p:spPr>
          <a:xfrm>
            <a:off x="2522356" y="10"/>
            <a:ext cx="9669642" cy="6857990"/>
          </a:xfrm>
          <a:prstGeom prst="rect">
            <a:avLst/>
          </a:prstGeom>
        </p:spPr>
      </p:pic>
      <p:sp>
        <p:nvSpPr>
          <p:cNvPr id="11" name="Rectangle 10">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5B2305D-8829-8AC8-DB71-3A7FBB6A157A}"/>
              </a:ext>
            </a:extLst>
          </p:cNvPr>
          <p:cNvSpPr>
            <a:spLocks noGrp="1"/>
          </p:cNvSpPr>
          <p:nvPr>
            <p:ph type="title"/>
          </p:nvPr>
        </p:nvSpPr>
        <p:spPr>
          <a:xfrm>
            <a:off x="685800" y="1008668"/>
            <a:ext cx="3312356" cy="766175"/>
          </a:xfrm>
        </p:spPr>
        <p:txBody>
          <a:bodyPr>
            <a:normAutofit/>
          </a:bodyPr>
          <a:lstStyle/>
          <a:p>
            <a:r>
              <a:rPr lang="en-US" sz="4000" dirty="0">
                <a:latin typeface="Calibri" panose="020F0502020204030204" pitchFamily="34" charset="0"/>
                <a:cs typeface="Calibri" panose="020F0502020204030204" pitchFamily="34" charset="0"/>
              </a:rPr>
              <a:t>Applications:</a:t>
            </a:r>
          </a:p>
        </p:txBody>
      </p:sp>
      <p:sp>
        <p:nvSpPr>
          <p:cNvPr id="3" name="Content Placeholder 2">
            <a:extLst>
              <a:ext uri="{FF2B5EF4-FFF2-40B4-BE49-F238E27FC236}">
                <a16:creationId xmlns:a16="http://schemas.microsoft.com/office/drawing/2014/main" id="{C2FD7DBD-757B-E21D-EC80-4F8FC5EEF9AB}"/>
              </a:ext>
            </a:extLst>
          </p:cNvPr>
          <p:cNvSpPr>
            <a:spLocks noGrp="1"/>
          </p:cNvSpPr>
          <p:nvPr>
            <p:ph idx="1"/>
          </p:nvPr>
        </p:nvSpPr>
        <p:spPr>
          <a:xfrm>
            <a:off x="685800" y="2065868"/>
            <a:ext cx="5410200" cy="4099262"/>
          </a:xfrm>
        </p:spPr>
        <p:txBody>
          <a:bodyPr>
            <a:noAutofit/>
          </a:bodyPr>
          <a:lstStyle/>
          <a:p>
            <a:pPr>
              <a:lnSpc>
                <a:spcPct val="150000"/>
              </a:lnSpc>
              <a:buFont typeface="Wingdings" pitchFamily="2" charset="2"/>
              <a:buChar char="ü"/>
            </a:pPr>
            <a:r>
              <a:rPr lang="en-US" dirty="0">
                <a:latin typeface="Calibri" panose="020F0502020204030204" pitchFamily="34" charset="0"/>
                <a:cs typeface="Calibri" panose="020F0502020204030204" pitchFamily="34" charset="0"/>
              </a:rPr>
              <a:t>Remote patient monitoring.</a:t>
            </a:r>
          </a:p>
          <a:p>
            <a:pPr>
              <a:lnSpc>
                <a:spcPct val="150000"/>
              </a:lnSpc>
              <a:buFont typeface="Wingdings" pitchFamily="2" charset="2"/>
              <a:buChar char="ü"/>
            </a:pPr>
            <a:r>
              <a:rPr lang="en-US" dirty="0">
                <a:latin typeface="Calibri" panose="020F0502020204030204" pitchFamily="34" charset="0"/>
                <a:cs typeface="Calibri" panose="020F0502020204030204" pitchFamily="34" charset="0"/>
              </a:rPr>
              <a:t>Glucose monitoring.</a:t>
            </a:r>
          </a:p>
          <a:p>
            <a:pPr>
              <a:lnSpc>
                <a:spcPct val="150000"/>
              </a:lnSpc>
              <a:buFont typeface="Wingdings" pitchFamily="2" charset="2"/>
              <a:buChar char="ü"/>
            </a:pPr>
            <a:r>
              <a:rPr lang="en-US" dirty="0">
                <a:latin typeface="Calibri" panose="020F0502020204030204" pitchFamily="34" charset="0"/>
                <a:cs typeface="Calibri" panose="020F0502020204030204" pitchFamily="34" charset="0"/>
              </a:rPr>
              <a:t>Hand </a:t>
            </a:r>
            <a:r>
              <a:rPr lang="en-IN" dirty="0">
                <a:latin typeface="Calibri" panose="020F0502020204030204" pitchFamily="34" charset="0"/>
                <a:cs typeface="Calibri" panose="020F0502020204030204" pitchFamily="34" charset="0"/>
              </a:rPr>
              <a:t>Hygiene monitoring.</a:t>
            </a:r>
            <a:endParaRPr lang="en-US" dirty="0">
              <a:latin typeface="Calibri" panose="020F0502020204030204" pitchFamily="34" charset="0"/>
              <a:cs typeface="Calibri" panose="020F0502020204030204" pitchFamily="34" charset="0"/>
            </a:endParaRPr>
          </a:p>
          <a:p>
            <a:pPr marL="0" indent="0">
              <a:lnSpc>
                <a:spcPct val="150000"/>
              </a:lnSpc>
              <a:buNone/>
            </a:pP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53864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9BAE2A-78CA-5262-8AA2-036986646638}"/>
              </a:ext>
            </a:extLst>
          </p:cNvPr>
          <p:cNvSpPr>
            <a:spLocks noGrp="1"/>
          </p:cNvSpPr>
          <p:nvPr>
            <p:ph type="title"/>
          </p:nvPr>
        </p:nvSpPr>
        <p:spPr>
          <a:xfrm>
            <a:off x="4793453" y="331385"/>
            <a:ext cx="6798541" cy="823136"/>
          </a:xfrm>
        </p:spPr>
        <p:txBody>
          <a:bodyPr anchor="b">
            <a:normAutofit/>
          </a:bodyPr>
          <a:lstStyle/>
          <a:p>
            <a:r>
              <a:rPr lang="en-US" sz="4000" dirty="0">
                <a:latin typeface="Calibri" panose="020F0502020204030204" pitchFamily="34" charset="0"/>
                <a:cs typeface="Calibri" panose="020F0502020204030204" pitchFamily="34" charset="0"/>
              </a:rPr>
              <a:t>Future Scope:</a:t>
            </a:r>
          </a:p>
        </p:txBody>
      </p:sp>
      <p:pic>
        <p:nvPicPr>
          <p:cNvPr id="5" name="Picture 4" descr="Desk with stethoscope and computer keyboard">
            <a:extLst>
              <a:ext uri="{FF2B5EF4-FFF2-40B4-BE49-F238E27FC236}">
                <a16:creationId xmlns:a16="http://schemas.microsoft.com/office/drawing/2014/main" id="{C0799381-A3AE-92B7-96D9-6915ACB794EB}"/>
              </a:ext>
            </a:extLst>
          </p:cNvPr>
          <p:cNvPicPr>
            <a:picLocks noChangeAspect="1"/>
          </p:cNvPicPr>
          <p:nvPr/>
        </p:nvPicPr>
        <p:blipFill rotWithShape="1">
          <a:blip r:embed="rId2"/>
          <a:srcRect l="57053" r="2101" b="-1"/>
          <a:stretch/>
        </p:blipFill>
        <p:spPr>
          <a:xfrm>
            <a:off x="1" y="10"/>
            <a:ext cx="4196496" cy="6857990"/>
          </a:xfrm>
          <a:prstGeom prst="rect">
            <a:avLst/>
          </a:prstGeom>
          <a:effectLst/>
        </p:spPr>
      </p:pic>
      <p:sp>
        <p:nvSpPr>
          <p:cNvPr id="3" name="Content Placeholder 2">
            <a:extLst>
              <a:ext uri="{FF2B5EF4-FFF2-40B4-BE49-F238E27FC236}">
                <a16:creationId xmlns:a16="http://schemas.microsoft.com/office/drawing/2014/main" id="{68AC8B0F-7401-2182-6556-F2FB5330C3FA}"/>
              </a:ext>
            </a:extLst>
          </p:cNvPr>
          <p:cNvSpPr>
            <a:spLocks noGrp="1"/>
          </p:cNvSpPr>
          <p:nvPr>
            <p:ph idx="1"/>
          </p:nvPr>
        </p:nvSpPr>
        <p:spPr>
          <a:xfrm>
            <a:off x="4793455" y="1485906"/>
            <a:ext cx="6798539" cy="4629141"/>
          </a:xfrm>
        </p:spPr>
        <p:txBody>
          <a:bodyPr>
            <a:normAutofit/>
          </a:bodyPr>
          <a:lstStyle/>
          <a:p>
            <a:pPr>
              <a:lnSpc>
                <a:spcPct val="150000"/>
              </a:lnSpc>
              <a:buFont typeface="Wingdings" pitchFamily="2" charset="2"/>
              <a:buChar char="ü"/>
            </a:pPr>
            <a:r>
              <a:rPr lang="en-US" dirty="0">
                <a:latin typeface="Calibri" panose="020F0502020204030204" pitchFamily="34" charset="0"/>
                <a:cs typeface="Calibri" panose="020F0502020204030204" pitchFamily="34" charset="0"/>
              </a:rPr>
              <a:t>Personalized healthcare IOT devices will allow for real-time collection of health data.</a:t>
            </a:r>
          </a:p>
          <a:p>
            <a:pPr>
              <a:lnSpc>
                <a:spcPct val="150000"/>
              </a:lnSpc>
              <a:buFont typeface="Wingdings" pitchFamily="2" charset="2"/>
              <a:buChar char="ü"/>
            </a:pPr>
            <a:r>
              <a:rPr lang="en-US" dirty="0">
                <a:latin typeface="Calibri" panose="020F0502020204030204" pitchFamily="34" charset="0"/>
                <a:cs typeface="Calibri" panose="020F0502020204030204" pitchFamily="34" charset="0"/>
              </a:rPr>
              <a:t>It can then be used to create tailored treatment plans for individual patients.</a:t>
            </a:r>
          </a:p>
          <a:p>
            <a:pPr>
              <a:lnSpc>
                <a:spcPct val="150000"/>
              </a:lnSpc>
              <a:buFont typeface="Wingdings" pitchFamily="2" charset="2"/>
              <a:buChar char="ü"/>
            </a:pPr>
            <a:r>
              <a:rPr lang="en-US" dirty="0">
                <a:latin typeface="Calibri" panose="020F0502020204030204" pitchFamily="34" charset="0"/>
                <a:cs typeface="Calibri" panose="020F0502020204030204" pitchFamily="34" charset="0"/>
              </a:rPr>
              <a:t>This will lead to more effective treatment and better outcomes for patients.</a:t>
            </a:r>
          </a:p>
        </p:txBody>
      </p:sp>
    </p:spTree>
    <p:extLst>
      <p:ext uri="{BB962C8B-B14F-4D97-AF65-F5344CB8AC3E}">
        <p14:creationId xmlns:p14="http://schemas.microsoft.com/office/powerpoint/2010/main" val="27912641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A3C89F8-0D2F-47FF-B903-15124826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extBox 1">
            <a:extLst>
              <a:ext uri="{FF2B5EF4-FFF2-40B4-BE49-F238E27FC236}">
                <a16:creationId xmlns:a16="http://schemas.microsoft.com/office/drawing/2014/main" id="{B56D0FEB-9ECD-4B77-F7FB-E277207B08D9}"/>
              </a:ext>
            </a:extLst>
          </p:cNvPr>
          <p:cNvSpPr txBox="1"/>
          <p:nvPr/>
        </p:nvSpPr>
        <p:spPr>
          <a:xfrm>
            <a:off x="2472029" y="2674980"/>
            <a:ext cx="7160357" cy="4164820"/>
          </a:xfrm>
          <a:prstGeom prst="rect">
            <a:avLst/>
          </a:prstGeom>
        </p:spPr>
        <p:txBody>
          <a:bodyPr vert="horz" lIns="91440" tIns="45720" rIns="91440" bIns="45720" rtlCol="0" anchor="t">
            <a:normAutofit/>
          </a:bodyPr>
          <a:lstStyle/>
          <a:p>
            <a:pPr algn="r">
              <a:lnSpc>
                <a:spcPct val="90000"/>
              </a:lnSpc>
              <a:spcBef>
                <a:spcPct val="0"/>
              </a:spcBef>
              <a:spcAft>
                <a:spcPts val="600"/>
              </a:spcAft>
            </a:pPr>
            <a:r>
              <a:rPr lang="en-US" sz="8000" kern="1200">
                <a:solidFill>
                  <a:srgbClr val="FFFFFF"/>
                </a:solidFill>
                <a:latin typeface="+mj-lt"/>
                <a:ea typeface="+mj-ea"/>
                <a:cs typeface="+mj-cs"/>
              </a:rPr>
              <a:t>THANK YOU….</a:t>
            </a:r>
          </a:p>
        </p:txBody>
      </p:sp>
      <p:sp>
        <p:nvSpPr>
          <p:cNvPr id="9"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4359" y="583345"/>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1"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33139" y="8126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3"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8819" y="1037066"/>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15" name="Straight Connector 14">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6114"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7"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36425" y="5636680"/>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19"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45175" y="609675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21"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54288" y="6238029"/>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Tree>
    <p:extLst>
      <p:ext uri="{BB962C8B-B14F-4D97-AF65-F5344CB8AC3E}">
        <p14:creationId xmlns:p14="http://schemas.microsoft.com/office/powerpoint/2010/main" val="21025938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773</TotalTime>
  <Words>547</Words>
  <Application>Microsoft Office PowerPoint</Application>
  <PresentationFormat>Widescreen</PresentationFormat>
  <Paragraphs>49</Paragraphs>
  <Slides>11</Slides>
  <Notes>2</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TITLE: SMART SALINE BAG </vt:lpstr>
      <vt:lpstr>PowerPoint Presentation</vt:lpstr>
      <vt:lpstr>Project Goal</vt:lpstr>
      <vt:lpstr>ABSTRACT:</vt:lpstr>
      <vt:lpstr>BLOCK DIAGRAM:</vt:lpstr>
      <vt:lpstr>List of Components Used:</vt:lpstr>
      <vt:lpstr>PowerPoint Presentation</vt:lpstr>
      <vt:lpstr>Advantages:</vt:lpstr>
      <vt:lpstr>Applications:</vt:lpstr>
      <vt:lpstr>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SALINE BAG USING IOT  TEAM NAME : Connectech Crew</dc:title>
  <dc:creator>Dharshinisri Govindaraj</dc:creator>
  <cp:lastModifiedBy>Dharshinisri Govindaraj</cp:lastModifiedBy>
  <cp:revision>10</cp:revision>
  <dcterms:created xsi:type="dcterms:W3CDTF">2024-05-17T12:49:00Z</dcterms:created>
  <dcterms:modified xsi:type="dcterms:W3CDTF">2024-08-29T01:09:46Z</dcterms:modified>
</cp:coreProperties>
</file>